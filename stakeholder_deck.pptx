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diagnostic assistant for supply chain planners, built on a knowledge graph plus the notes people write. Everything shown is synthetic capstone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anchor from the brief. The point is that the immediate signal misleads.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personas from the brief, one spotlight. Same evidence, different angle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properties that separate this from a report: ranked causes, citations, honesty about gaps, and no autonomous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non-technical. The key idea is that structured records and human notes are searched together, and the answer is checked before it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goes here. The right-hand panel is the point — knowing what it cannot know is the difference between a tool a planner trusts and one they check by hand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jump. Same code gave 87% on another run. The honest claim is a modest, measured improvement and a defect found by measuring.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permission point matters most: read-only is enforced by the database, so it holds regardless of what the model decides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specific about limits is what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real risk, which is adoption rather than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Text 0"/>
          <p:cNvSpPr txBox="1"/>
          <p:nvPr/>
        </p:nvSpPr>
        <p:spPr>
          <a:xfrm>
            <a:off x="822960" y="1737360"/>
            <a:ext cx="7680960" cy="201168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Demand-to-Delivery</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Diagnostic Agent</a:t>
            </a:r>
            <a:endParaRPr lang="en-US" sz="4600" dirty="0"/>
          </a:p>
        </p:txBody>
      </p:sp>
      <p:sp>
        <p:nvSpPr>
          <p:cNvPr id="3" name="Text 1"/>
          <p:cNvSpPr txBox="1"/>
          <p:nvPr/>
        </p:nvSpPr>
        <p:spPr>
          <a:xfrm>
            <a:off x="822960" y="3794760"/>
            <a:ext cx="8412480" cy="548640"/>
          </a:xfrm>
          <a:prstGeom prst="rect">
            <a:avLst/>
          </a:prstGeom>
          <a:noFill/>
          <a:ln/>
        </p:spPr>
        <p:txBody>
          <a:bodyPr wrap="square" lIns="0" tIns="0" rIns="0" bIns="0" rtlCol="0" anchor="ctr"/>
          <a:lstStyle/>
          <a:p>
            <a:pPr indent="0" marL="0">
              <a:buNone/>
            </a:pPr>
            <a:r>
              <a:rPr lang="en-US" sz="1700" dirty="0">
                <a:solidFill>
                  <a:srgbClr val="97BC62"/>
                </a:solidFill>
                <a:latin typeface="Calibri" pitchFamily="34" charset="0"/>
                <a:ea typeface="Calibri" pitchFamily="34" charset="-122"/>
                <a:cs typeface="Calibri" pitchFamily="34" charset="-120"/>
              </a:rPr>
              <a:t>Why is this part, plant or product at risk — answered from evidence, in seconds</a:t>
            </a:r>
            <a:endParaRPr lang="en-US" sz="1700" dirty="0"/>
          </a:p>
        </p:txBody>
      </p:sp>
      <p:sp>
        <p:nvSpPr>
          <p:cNvPr id="4" name="Text 2"/>
          <p:cNvSpPr txBox="1"/>
          <p:nvPr/>
        </p:nvSpPr>
        <p:spPr>
          <a:xfrm>
            <a:off x="822960" y="5760720"/>
            <a:ext cx="8686800" cy="365760"/>
          </a:xfrm>
          <a:prstGeom prst="rect">
            <a:avLst/>
          </a:prstGeom>
          <a:noFill/>
          <a:ln/>
        </p:spPr>
        <p:txBody>
          <a:bodyPr wrap="square" lIns="0" tIns="0" rIns="0" bIns="0" rtlCol="0" anchor="ctr"/>
          <a:lstStyle/>
          <a:p>
            <a:pPr indent="0" marL="0">
              <a:buNone/>
            </a:pPr>
            <a:r>
              <a:rPr lang="en-US" sz="1200" dirty="0">
                <a:solidFill>
                  <a:srgbClr val="C8D8C0"/>
                </a:solidFill>
                <a:latin typeface="Calibri" pitchFamily="34" charset="0"/>
                <a:ea typeface="Calibri" pitchFamily="34" charset="-122"/>
                <a:cs typeface="Calibri" pitchFamily="34" charset="-120"/>
              </a:rPr>
              <a:t>AGCO Advanced AI Bootcamp  ·  Capstone 02, Supply Chain  ·  All data synthetic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1C2A1C"/>
                </a:solidFill>
                <a:latin typeface="Cambria" pitchFamily="34" charset="0"/>
                <a:ea typeface="Cambria" pitchFamily="34" charset="-122"/>
                <a:cs typeface="Cambria" pitchFamily="34" charset="-120"/>
              </a:rPr>
              <a:t>A shortage rarely has one cause</a:t>
            </a:r>
            <a:endParaRPr lang="en-US" sz="3800" dirty="0"/>
          </a:p>
        </p:txBody>
      </p:sp>
      <p:sp>
        <p:nvSpPr>
          <p:cNvPr id="3" name="Text 1"/>
          <p:cNvSpPr txBox="1"/>
          <p:nvPr/>
        </p:nvSpPr>
        <p:spPr>
          <a:xfrm>
            <a:off x="640080" y="1417320"/>
            <a:ext cx="5669280" cy="1371600"/>
          </a:xfrm>
          <a:prstGeom prst="rect">
            <a:avLst/>
          </a:prstGeom>
          <a:noFill/>
          <a:ln/>
        </p:spPr>
        <p:txBody>
          <a:bodyPr wrap="square" lIns="0" tIns="0" rIns="0" bIns="0" rtlCol="0" anchor="ctr"/>
          <a:lstStyle/>
          <a:p>
            <a:pPr indent="0" marL="0">
              <a:buNone/>
            </a:pPr>
            <a:r>
              <a:rPr lang="en-US" sz="1500" dirty="0">
                <a:solidFill>
                  <a:srgbClr val="1C2A1C"/>
                </a:solidFill>
                <a:latin typeface="Calibri" pitchFamily="34" charset="0"/>
                <a:ea typeface="Calibri" pitchFamily="34" charset="-122"/>
                <a:cs typeface="Calibri" pitchFamily="34" charset="-120"/>
              </a:rPr>
              <a:t>When a component is about to run short, the answer is scattered across forecasting, purchasing, logistics, quality and plant scheduling. Today a planner joins those by hand.</a:t>
            </a:r>
            <a:endParaRPr lang="en-US" sz="1500" dirty="0"/>
          </a:p>
        </p:txBody>
      </p:sp>
      <p:sp>
        <p:nvSpPr>
          <p:cNvPr id="4" name="Shape 2"/>
          <p:cNvSpPr/>
          <p:nvPr/>
        </p:nvSpPr>
        <p:spPr>
          <a:xfrm>
            <a:off x="640080" y="3017520"/>
            <a:ext cx="5669280" cy="868680"/>
          </a:xfrm>
          <a:prstGeom prst="roundRect">
            <a:avLst>
              <a:gd name="adj" fmla="val 8421"/>
            </a:avLst>
          </a:prstGeom>
          <a:solidFill>
            <a:srgbClr val="F5F5F5"/>
          </a:solidFill>
          <a:ln/>
        </p:spPr>
      </p:sp>
      <p:sp>
        <p:nvSpPr>
          <p:cNvPr id="5" name="Text 3"/>
          <p:cNvSpPr txBox="1"/>
          <p:nvPr/>
        </p:nvSpPr>
        <p:spPr>
          <a:xfrm>
            <a:off x="868680" y="3127248"/>
            <a:ext cx="182880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Hours</a:t>
            </a:r>
            <a:endParaRPr lang="en-US" sz="1500" dirty="0"/>
          </a:p>
        </p:txBody>
      </p:sp>
      <p:sp>
        <p:nvSpPr>
          <p:cNvPr id="6" name="Text 4"/>
          <p:cNvSpPr txBox="1"/>
          <p:nvPr/>
        </p:nvSpPr>
        <p:spPr>
          <a:xfrm>
            <a:off x="2651760" y="3145536"/>
            <a:ext cx="3520440" cy="548640"/>
          </a:xfrm>
          <a:prstGeom prst="rect">
            <a:avLst/>
          </a:prstGeom>
          <a:noFill/>
          <a:ln/>
        </p:spPr>
        <p:txBody>
          <a:bodyPr wrap="square" lIns="0" tIns="0" rIns="0" bIns="0" rtlCol="0" anchor="ctr"/>
          <a:lstStyle/>
          <a:p>
            <a:pPr indent="0" marL="0">
              <a:buNone/>
            </a:pPr>
            <a:r>
              <a:rPr lang="en-US" sz="1200" dirty="0">
                <a:solidFill>
                  <a:srgbClr val="5A6B5A"/>
                </a:solidFill>
                <a:latin typeface="Calibri" pitchFamily="34" charset="0"/>
                <a:ea typeface="Calibri" pitchFamily="34" charset="-122"/>
                <a:cs typeface="Calibri" pitchFamily="34" charset="-120"/>
              </a:rPr>
              <a:t>spent joining spreadsheets to answer one question</a:t>
            </a:r>
            <a:endParaRPr lang="en-US" sz="1200" dirty="0"/>
          </a:p>
        </p:txBody>
      </p:sp>
      <p:sp>
        <p:nvSpPr>
          <p:cNvPr id="7" name="Shape 5"/>
          <p:cNvSpPr/>
          <p:nvPr/>
        </p:nvSpPr>
        <p:spPr>
          <a:xfrm>
            <a:off x="640080" y="4069080"/>
            <a:ext cx="5669280" cy="868680"/>
          </a:xfrm>
          <a:prstGeom prst="roundRect">
            <a:avLst>
              <a:gd name="adj" fmla="val 8421"/>
            </a:avLst>
          </a:prstGeom>
          <a:solidFill>
            <a:srgbClr val="F5F5F5"/>
          </a:solidFill>
          <a:ln/>
        </p:spPr>
      </p:sp>
      <p:sp>
        <p:nvSpPr>
          <p:cNvPr id="8" name="Text 6"/>
          <p:cNvSpPr txBox="1"/>
          <p:nvPr/>
        </p:nvSpPr>
        <p:spPr>
          <a:xfrm>
            <a:off x="868680" y="4178808"/>
            <a:ext cx="182880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Wrong cause</a:t>
            </a:r>
            <a:endParaRPr lang="en-US" sz="1500" dirty="0"/>
          </a:p>
        </p:txBody>
      </p:sp>
      <p:sp>
        <p:nvSpPr>
          <p:cNvPr id="9" name="Text 7"/>
          <p:cNvSpPr txBox="1"/>
          <p:nvPr/>
        </p:nvSpPr>
        <p:spPr>
          <a:xfrm>
            <a:off x="2651760" y="4197096"/>
            <a:ext cx="3520440" cy="548640"/>
          </a:xfrm>
          <a:prstGeom prst="rect">
            <a:avLst/>
          </a:prstGeom>
          <a:noFill/>
          <a:ln/>
        </p:spPr>
        <p:txBody>
          <a:bodyPr wrap="square" lIns="0" tIns="0" rIns="0" bIns="0" rtlCol="0" anchor="ctr"/>
          <a:lstStyle/>
          <a:p>
            <a:pPr indent="0" marL="0">
              <a:buNone/>
            </a:pPr>
            <a:r>
              <a:rPr lang="en-US" sz="1200" dirty="0">
                <a:solidFill>
                  <a:srgbClr val="5A6B5A"/>
                </a:solidFill>
                <a:latin typeface="Calibri" pitchFamily="34" charset="0"/>
                <a:ea typeface="Calibri" pitchFamily="34" charset="-122"/>
                <a:cs typeface="Calibri" pitchFamily="34" charset="-120"/>
              </a:rPr>
              <a:t>the obvious signal is often not the real driver</a:t>
            </a:r>
            <a:endParaRPr lang="en-US" sz="1200" dirty="0"/>
          </a:p>
        </p:txBody>
      </p:sp>
      <p:sp>
        <p:nvSpPr>
          <p:cNvPr id="10" name="Shape 8"/>
          <p:cNvSpPr/>
          <p:nvPr/>
        </p:nvSpPr>
        <p:spPr>
          <a:xfrm>
            <a:off x="640080" y="5120640"/>
            <a:ext cx="5669280" cy="868680"/>
          </a:xfrm>
          <a:prstGeom prst="roundRect">
            <a:avLst>
              <a:gd name="adj" fmla="val 8421"/>
            </a:avLst>
          </a:prstGeom>
          <a:solidFill>
            <a:srgbClr val="F5F5F5"/>
          </a:solidFill>
          <a:ln/>
        </p:spPr>
      </p:sp>
      <p:sp>
        <p:nvSpPr>
          <p:cNvPr id="11" name="Text 9"/>
          <p:cNvSpPr txBox="1"/>
          <p:nvPr/>
        </p:nvSpPr>
        <p:spPr>
          <a:xfrm>
            <a:off x="868680" y="5230368"/>
            <a:ext cx="182880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Missed options</a:t>
            </a:r>
            <a:endParaRPr lang="en-US" sz="1500" dirty="0"/>
          </a:p>
        </p:txBody>
      </p:sp>
      <p:sp>
        <p:nvSpPr>
          <p:cNvPr id="12" name="Text 10"/>
          <p:cNvSpPr txBox="1"/>
          <p:nvPr/>
        </p:nvSpPr>
        <p:spPr>
          <a:xfrm>
            <a:off x="2651760" y="5248656"/>
            <a:ext cx="3520440" cy="548640"/>
          </a:xfrm>
          <a:prstGeom prst="rect">
            <a:avLst/>
          </a:prstGeom>
          <a:noFill/>
          <a:ln/>
        </p:spPr>
        <p:txBody>
          <a:bodyPr wrap="square" lIns="0" tIns="0" rIns="0" bIns="0" rtlCol="0" anchor="ctr"/>
          <a:lstStyle/>
          <a:p>
            <a:pPr indent="0" marL="0">
              <a:buNone/>
            </a:pPr>
            <a:r>
              <a:rPr lang="en-US" sz="1200" dirty="0">
                <a:solidFill>
                  <a:srgbClr val="5A6B5A"/>
                </a:solidFill>
                <a:latin typeface="Calibri" pitchFamily="34" charset="0"/>
                <a:ea typeface="Calibri" pitchFamily="34" charset="-122"/>
                <a:cs typeface="Calibri" pitchFamily="34" charset="-120"/>
              </a:rPr>
              <a:t>stock or substitutes elsewhere go unnoticed</a:t>
            </a:r>
            <a:endParaRPr lang="en-US" sz="1200" dirty="0"/>
          </a:p>
        </p:txBody>
      </p:sp>
      <p:sp>
        <p:nvSpPr>
          <p:cNvPr id="13" name="Shape 11"/>
          <p:cNvSpPr/>
          <p:nvPr/>
        </p:nvSpPr>
        <p:spPr>
          <a:xfrm>
            <a:off x="6858000" y="1417320"/>
            <a:ext cx="4663440" cy="4480560"/>
          </a:xfrm>
          <a:prstGeom prst="roundRect">
            <a:avLst>
              <a:gd name="adj" fmla="val 2041"/>
            </a:avLst>
          </a:prstGeom>
          <a:solidFill>
            <a:srgbClr val="2C5F2D"/>
          </a:solidFill>
          <a:ln/>
        </p:spPr>
      </p:sp>
      <p:sp>
        <p:nvSpPr>
          <p:cNvPr id="14" name="Text 12"/>
          <p:cNvSpPr txBox="1"/>
          <p:nvPr/>
        </p:nvSpPr>
        <p:spPr>
          <a:xfrm>
            <a:off x="7223760" y="1691640"/>
            <a:ext cx="3931920" cy="365760"/>
          </a:xfrm>
          <a:prstGeom prst="rect">
            <a:avLst/>
          </a:prstGeom>
          <a:noFill/>
          <a:ln/>
        </p:spPr>
        <p:txBody>
          <a:bodyPr wrap="square" lIns="0" tIns="0" rIns="0" bIns="0" rtlCol="0" anchor="ctr"/>
          <a:lstStyle/>
          <a:p>
            <a:pPr indent="0" marL="0">
              <a:buNone/>
            </a:pPr>
            <a:r>
              <a:rPr lang="en-US" sz="1300" b="1" dirty="0">
                <a:solidFill>
                  <a:srgbClr val="97BC62"/>
                </a:solidFill>
                <a:latin typeface="Cambria" pitchFamily="34" charset="0"/>
                <a:ea typeface="Cambria" pitchFamily="34" charset="-122"/>
                <a:cs typeface="Cambria" pitchFamily="34" charset="-120"/>
              </a:rPr>
              <a:t>The case we tested</a:t>
            </a:r>
            <a:endParaRPr lang="en-US" sz="1300" dirty="0"/>
          </a:p>
        </p:txBody>
      </p:sp>
      <p:sp>
        <p:nvSpPr>
          <p:cNvPr id="15" name="Text 13"/>
          <p:cNvSpPr txBox="1"/>
          <p:nvPr/>
        </p:nvSpPr>
        <p:spPr>
          <a:xfrm>
            <a:off x="7223760" y="2194560"/>
            <a:ext cx="3931920" cy="3291840"/>
          </a:xfrm>
          <a:prstGeom prst="rect">
            <a:avLst/>
          </a:prstGeom>
          <a:noFill/>
          <a:ln/>
        </p:spPr>
        <p:txBody>
          <a:bodyPr wrap="square" lIns="0" tIns="0" rIns="0" bIns="0"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A harvester sensor runs short at one plant.
</a:t>
            </a:r>
            <a:endParaRPr lang="en-US" sz="1400" dirty="0"/>
          </a:p>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It looks like a late supplier. It is actually three things at once: a delayed shipment, an unrelated quality hold on a different batch, and a demand increase that landed the same month.
</a:t>
            </a:r>
            <a:endParaRPr lang="en-US" sz="1400" dirty="0"/>
          </a:p>
          <a:p>
            <a:pPr indent="0" marL="0">
              <a:lnSpc>
                <a:spcPct val="120000"/>
              </a:lnSpc>
              <a:buNone/>
            </a:pPr>
            <a:r>
              <a:rPr lang="en-US" sz="1400" b="1" dirty="0">
                <a:solidFill>
                  <a:srgbClr val="FFFFFF"/>
                </a:solidFill>
                <a:latin typeface="Calibri" pitchFamily="34" charset="0"/>
                <a:ea typeface="Calibri" pitchFamily="34" charset="-122"/>
                <a:cs typeface="Calibri" pitchFamily="34" charset="-120"/>
              </a:rPr>
              <a:t>Two fixes exist. Neither is clean.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1C2A1C"/>
                </a:solidFill>
                <a:latin typeface="Cambria" pitchFamily="34" charset="0"/>
                <a:ea typeface="Cambria" pitchFamily="34" charset="-122"/>
                <a:cs typeface="Cambria" pitchFamily="34" charset="-120"/>
              </a:rPr>
              <a:t>Built for the person holding the question</a:t>
            </a:r>
            <a:endParaRPr lang="en-US" sz="3800" dirty="0"/>
          </a:p>
        </p:txBody>
      </p:sp>
      <p:sp>
        <p:nvSpPr>
          <p:cNvPr id="3" name="Shape 1"/>
          <p:cNvSpPr/>
          <p:nvPr/>
        </p:nvSpPr>
        <p:spPr>
          <a:xfrm>
            <a:off x="640080" y="1463040"/>
            <a:ext cx="4937760" cy="4023360"/>
          </a:xfrm>
          <a:prstGeom prst="roundRect">
            <a:avLst>
              <a:gd name="adj" fmla="val 2273"/>
            </a:avLst>
          </a:prstGeom>
          <a:solidFill>
            <a:srgbClr val="F5F5F5"/>
          </a:solidFill>
          <a:ln/>
        </p:spPr>
      </p:sp>
      <p:sp>
        <p:nvSpPr>
          <p:cNvPr id="4" name="Text 2"/>
          <p:cNvSpPr txBox="1"/>
          <p:nvPr/>
        </p:nvSpPr>
        <p:spPr>
          <a:xfrm>
            <a:off x="960120" y="1783080"/>
            <a:ext cx="4206240" cy="457200"/>
          </a:xfrm>
          <a:prstGeom prst="rect">
            <a:avLst/>
          </a:prstGeom>
          <a:noFill/>
          <a:ln/>
        </p:spPr>
        <p:txBody>
          <a:bodyPr wrap="square" lIns="0" tIns="0" rIns="0" bIns="0"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Marcus</a:t>
            </a:r>
            <a:endParaRPr lang="en-US" sz="2600" dirty="0"/>
          </a:p>
        </p:txBody>
      </p:sp>
      <p:sp>
        <p:nvSpPr>
          <p:cNvPr id="5" name="Text 3"/>
          <p:cNvSpPr txBox="1"/>
          <p:nvPr/>
        </p:nvSpPr>
        <p:spPr>
          <a:xfrm>
            <a:off x="960120" y="2286000"/>
            <a:ext cx="4206240" cy="320040"/>
          </a:xfrm>
          <a:prstGeom prst="rect">
            <a:avLst/>
          </a:prstGeom>
          <a:noFill/>
          <a:ln/>
        </p:spPr>
        <p:txBody>
          <a:bodyPr wrap="square" lIns="0" tIns="0" rIns="0" bIns="0" rtlCol="0" anchor="ctr"/>
          <a:lstStyle/>
          <a:p>
            <a:pPr indent="0" marL="0">
              <a:buNone/>
            </a:pPr>
            <a:r>
              <a:rPr lang="en-US" sz="1300" dirty="0">
                <a:solidFill>
                  <a:srgbClr val="5A6B5A"/>
                </a:solidFill>
                <a:latin typeface="Calibri" pitchFamily="34" charset="0"/>
                <a:ea typeface="Calibri" pitchFamily="34" charset="-122"/>
                <a:cs typeface="Calibri" pitchFamily="34" charset="-120"/>
              </a:rPr>
              <a:t>Demand Planner</a:t>
            </a:r>
            <a:endParaRPr lang="en-US" sz="1300" dirty="0"/>
          </a:p>
        </p:txBody>
      </p:sp>
      <p:sp>
        <p:nvSpPr>
          <p:cNvPr id="6" name="Text 4"/>
          <p:cNvSpPr txBox="1"/>
          <p:nvPr/>
        </p:nvSpPr>
        <p:spPr>
          <a:xfrm>
            <a:off x="960120" y="2834640"/>
            <a:ext cx="4297680" cy="2286000"/>
          </a:xfrm>
          <a:prstGeom prst="rect">
            <a:avLst/>
          </a:prstGeom>
          <a:noFill/>
          <a:ln/>
        </p:spPr>
        <p:txBody>
          <a:bodyPr wrap="square" lIns="0" tIns="0" rIns="0" bIns="0" rtlCol="0" anchor="ctr"/>
          <a:lstStyle/>
          <a:p>
            <a:pPr indent="0" marL="0">
              <a:lnSpc>
                <a:spcPct val="125000"/>
              </a:lnSpc>
              <a:buNone/>
            </a:pPr>
            <a:r>
              <a:rPr lang="en-US" sz="1400" i="1" dirty="0">
                <a:solidFill>
                  <a:srgbClr val="1C2A1C"/>
                </a:solidFill>
                <a:latin typeface="Calibri" pitchFamily="34" charset="0"/>
                <a:ea typeface="Calibri" pitchFamily="34" charset="-122"/>
                <a:cs typeface="Calibri" pitchFamily="34" charset="-120"/>
              </a:rPr>
              <a:t>“An exception flag appears on a high-use component two weeks before a scheduled build. I need to know whether it is a supplier delay, a forecast shift, a quality hold, or some combination — and what I can do about it.”</a:t>
            </a:r>
            <a:endParaRPr lang="en-US" sz="1400" dirty="0"/>
          </a:p>
        </p:txBody>
      </p:sp>
      <p:sp>
        <p:nvSpPr>
          <p:cNvPr id="7" name="Text 5"/>
          <p:cNvSpPr txBox="1"/>
          <p:nvPr/>
        </p:nvSpPr>
        <p:spPr>
          <a:xfrm>
            <a:off x="6309360" y="1554480"/>
            <a:ext cx="5212080" cy="365760"/>
          </a:xfrm>
          <a:prstGeom prst="rect">
            <a:avLst/>
          </a:prstGeom>
          <a:noFill/>
          <a:ln/>
        </p:spPr>
        <p:txBody>
          <a:bodyPr wrap="square" lIns="0" tIns="0" rIns="0" bIns="0" rtlCol="0" anchor="ctr"/>
          <a:lstStyle/>
          <a:p>
            <a:pPr indent="0" marL="0">
              <a:buNone/>
            </a:pPr>
            <a:r>
              <a:rPr lang="en-US" sz="1300" b="1" dirty="0">
                <a:solidFill>
                  <a:srgbClr val="5A6B5A"/>
                </a:solidFill>
                <a:latin typeface="Cambria" pitchFamily="34" charset="0"/>
                <a:ea typeface="Cambria" pitchFamily="34" charset="-122"/>
                <a:cs typeface="Cambria" pitchFamily="34" charset="-120"/>
              </a:rPr>
              <a:t>Also serves</a:t>
            </a:r>
            <a:endParaRPr lang="en-US" sz="1300" dirty="0"/>
          </a:p>
        </p:txBody>
      </p:sp>
      <p:sp>
        <p:nvSpPr>
          <p:cNvPr id="8" name="Shape 6"/>
          <p:cNvSpPr/>
          <p:nvPr/>
        </p:nvSpPr>
        <p:spPr>
          <a:xfrm>
            <a:off x="6309360" y="2148840"/>
            <a:ext cx="566928" cy="566928"/>
          </a:xfrm>
          <a:prstGeom prst="ellipse">
            <a:avLst/>
          </a:prstGeom>
          <a:solidFill>
            <a:srgbClr val="97BC62"/>
          </a:solidFill>
          <a:ln/>
        </p:spPr>
      </p:sp>
      <p:sp>
        <p:nvSpPr>
          <p:cNvPr id="9" name="Text 7"/>
          <p:cNvSpPr txBox="1"/>
          <p:nvPr/>
        </p:nvSpPr>
        <p:spPr>
          <a:xfrm>
            <a:off x="6309360" y="214884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1</a:t>
            </a:r>
            <a:endParaRPr lang="en-US" sz="1700" dirty="0"/>
          </a:p>
        </p:txBody>
      </p:sp>
      <p:sp>
        <p:nvSpPr>
          <p:cNvPr id="10" name="Text 8"/>
          <p:cNvSpPr txBox="1"/>
          <p:nvPr/>
        </p:nvSpPr>
        <p:spPr>
          <a:xfrm>
            <a:off x="7040880" y="2167128"/>
            <a:ext cx="448056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Supply &amp; Materials Planner</a:t>
            </a:r>
            <a:endParaRPr lang="en-US" sz="1500" dirty="0"/>
          </a:p>
        </p:txBody>
      </p:sp>
      <p:sp>
        <p:nvSpPr>
          <p:cNvPr id="11" name="Text 9"/>
          <p:cNvSpPr txBox="1"/>
          <p:nvPr/>
        </p:nvSpPr>
        <p:spPr>
          <a:xfrm>
            <a:off x="7040880" y="2496312"/>
            <a:ext cx="4480560" cy="457200"/>
          </a:xfrm>
          <a:prstGeom prst="rect">
            <a:avLst/>
          </a:prstGeom>
          <a:noFill/>
          <a:ln/>
        </p:spPr>
        <p:txBody>
          <a:bodyPr wrap="square" lIns="0" tIns="0" rIns="0" bIns="0" rtlCol="0" anchor="ctr"/>
          <a:lstStyle/>
          <a:p>
            <a:pPr indent="0" marL="0">
              <a:buNone/>
            </a:pPr>
            <a:r>
              <a:rPr lang="en-US" sz="1200" dirty="0">
                <a:solidFill>
                  <a:srgbClr val="5A6B5A"/>
                </a:solidFill>
                <a:latin typeface="Calibri" pitchFamily="34" charset="0"/>
                <a:ea typeface="Calibri" pitchFamily="34" charset="-122"/>
                <a:cs typeface="Calibri" pitchFamily="34" charset="-120"/>
              </a:rPr>
              <a:t>inventory, purchase orders, shortages, substitutions</a:t>
            </a:r>
            <a:endParaRPr lang="en-US" sz="1200" dirty="0"/>
          </a:p>
        </p:txBody>
      </p:sp>
      <p:sp>
        <p:nvSpPr>
          <p:cNvPr id="12" name="Shape 10"/>
          <p:cNvSpPr/>
          <p:nvPr/>
        </p:nvSpPr>
        <p:spPr>
          <a:xfrm>
            <a:off x="6309360" y="3383280"/>
            <a:ext cx="566928" cy="566928"/>
          </a:xfrm>
          <a:prstGeom prst="ellipse">
            <a:avLst/>
          </a:prstGeom>
          <a:solidFill>
            <a:srgbClr val="97BC62"/>
          </a:solidFill>
          <a:ln/>
        </p:spPr>
      </p:sp>
      <p:sp>
        <p:nvSpPr>
          <p:cNvPr id="13" name="Text 11"/>
          <p:cNvSpPr txBox="1"/>
          <p:nvPr/>
        </p:nvSpPr>
        <p:spPr>
          <a:xfrm>
            <a:off x="6309360" y="338328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2</a:t>
            </a:r>
            <a:endParaRPr lang="en-US" sz="1700" dirty="0"/>
          </a:p>
        </p:txBody>
      </p:sp>
      <p:sp>
        <p:nvSpPr>
          <p:cNvPr id="14" name="Text 12"/>
          <p:cNvSpPr txBox="1"/>
          <p:nvPr/>
        </p:nvSpPr>
        <p:spPr>
          <a:xfrm>
            <a:off x="7040880" y="3401568"/>
            <a:ext cx="448056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Supplier &amp; Quality Manager</a:t>
            </a:r>
            <a:endParaRPr lang="en-US" sz="1500" dirty="0"/>
          </a:p>
        </p:txBody>
      </p:sp>
      <p:sp>
        <p:nvSpPr>
          <p:cNvPr id="15" name="Text 13"/>
          <p:cNvSpPr txBox="1"/>
          <p:nvPr/>
        </p:nvSpPr>
        <p:spPr>
          <a:xfrm>
            <a:off x="7040880" y="3730752"/>
            <a:ext cx="4480560" cy="457200"/>
          </a:xfrm>
          <a:prstGeom prst="rect">
            <a:avLst/>
          </a:prstGeom>
          <a:noFill/>
          <a:ln/>
        </p:spPr>
        <p:txBody>
          <a:bodyPr wrap="square" lIns="0" tIns="0" rIns="0" bIns="0" rtlCol="0" anchor="ctr"/>
          <a:lstStyle/>
          <a:p>
            <a:pPr indent="0" marL="0">
              <a:buNone/>
            </a:pPr>
            <a:r>
              <a:rPr lang="en-US" sz="1200" dirty="0">
                <a:solidFill>
                  <a:srgbClr val="5A6B5A"/>
                </a:solidFill>
                <a:latin typeface="Calibri" pitchFamily="34" charset="0"/>
                <a:ea typeface="Calibri" pitchFamily="34" charset="-122"/>
                <a:cs typeface="Calibri" pitchFamily="34" charset="-120"/>
              </a:rPr>
              <a:t>supplier capacity, quality holds, recurring part issues</a:t>
            </a:r>
            <a:endParaRPr lang="en-US" sz="1200" dirty="0"/>
          </a:p>
        </p:txBody>
      </p:sp>
      <p:sp>
        <p:nvSpPr>
          <p:cNvPr id="16" name="Shape 14"/>
          <p:cNvSpPr/>
          <p:nvPr/>
        </p:nvSpPr>
        <p:spPr>
          <a:xfrm>
            <a:off x="6309360" y="4617720"/>
            <a:ext cx="566928" cy="566928"/>
          </a:xfrm>
          <a:prstGeom prst="ellipse">
            <a:avLst/>
          </a:prstGeom>
          <a:solidFill>
            <a:srgbClr val="97BC62"/>
          </a:solidFill>
          <a:ln/>
        </p:spPr>
      </p:sp>
      <p:sp>
        <p:nvSpPr>
          <p:cNvPr id="17" name="Text 15"/>
          <p:cNvSpPr txBox="1"/>
          <p:nvPr/>
        </p:nvSpPr>
        <p:spPr>
          <a:xfrm>
            <a:off x="6309360" y="461772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3</a:t>
            </a:r>
            <a:endParaRPr lang="en-US" sz="1700" dirty="0"/>
          </a:p>
        </p:txBody>
      </p:sp>
      <p:sp>
        <p:nvSpPr>
          <p:cNvPr id="18" name="Text 16"/>
          <p:cNvSpPr txBox="1"/>
          <p:nvPr/>
        </p:nvSpPr>
        <p:spPr>
          <a:xfrm>
            <a:off x="7040880" y="4636008"/>
            <a:ext cx="448056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Plant &amp; Operations Leader</a:t>
            </a:r>
            <a:endParaRPr lang="en-US" sz="1500" dirty="0"/>
          </a:p>
        </p:txBody>
      </p:sp>
      <p:sp>
        <p:nvSpPr>
          <p:cNvPr id="19" name="Text 17"/>
          <p:cNvSpPr txBox="1"/>
          <p:nvPr/>
        </p:nvSpPr>
        <p:spPr>
          <a:xfrm>
            <a:off x="7040880" y="4965192"/>
            <a:ext cx="4480560" cy="457200"/>
          </a:xfrm>
          <a:prstGeom prst="rect">
            <a:avLst/>
          </a:prstGeom>
          <a:noFill/>
          <a:ln/>
        </p:spPr>
        <p:txBody>
          <a:bodyPr wrap="square" lIns="0" tIns="0" rIns="0" bIns="0" rtlCol="0" anchor="ctr"/>
          <a:lstStyle/>
          <a:p>
            <a:pPr indent="0" marL="0">
              <a:buNone/>
            </a:pPr>
            <a:r>
              <a:rPr lang="en-US" sz="1200" dirty="0">
                <a:solidFill>
                  <a:srgbClr val="5A6B5A"/>
                </a:solidFill>
                <a:latin typeface="Calibri" pitchFamily="34" charset="0"/>
                <a:ea typeface="Calibri" pitchFamily="34" charset="-122"/>
                <a:cs typeface="Calibri" pitchFamily="34" charset="-120"/>
              </a:rPr>
              <a:t>impact on builds, dates and mitigation choices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1C2A1C"/>
                </a:solidFill>
                <a:latin typeface="Cambria" pitchFamily="34" charset="0"/>
                <a:ea typeface="Cambria" pitchFamily="34" charset="-122"/>
                <a:cs typeface="Cambria" pitchFamily="34" charset="-120"/>
              </a:rPr>
              <a:t>Ask in plain English. Get evidence back.</a:t>
            </a:r>
            <a:endParaRPr lang="en-US" sz="3800" dirty="0"/>
          </a:p>
        </p:txBody>
      </p:sp>
      <p:sp>
        <p:nvSpPr>
          <p:cNvPr id="3" name="Shape 1"/>
          <p:cNvSpPr/>
          <p:nvPr/>
        </p:nvSpPr>
        <p:spPr>
          <a:xfrm>
            <a:off x="640080" y="1417320"/>
            <a:ext cx="10881360" cy="960120"/>
          </a:xfrm>
          <a:prstGeom prst="roundRect">
            <a:avLst>
              <a:gd name="adj" fmla="val 7619"/>
            </a:avLst>
          </a:prstGeom>
          <a:solidFill>
            <a:srgbClr val="F5F5F5"/>
          </a:solidFill>
          <a:ln/>
        </p:spPr>
      </p:sp>
      <p:sp>
        <p:nvSpPr>
          <p:cNvPr id="4" name="Text 2"/>
          <p:cNvSpPr txBox="1"/>
          <p:nvPr/>
        </p:nvSpPr>
        <p:spPr>
          <a:xfrm>
            <a:off x="960120" y="1627632"/>
            <a:ext cx="10241280" cy="548640"/>
          </a:xfrm>
          <a:prstGeom prst="rect">
            <a:avLst/>
          </a:prstGeom>
          <a:noFill/>
          <a:ln/>
        </p:spPr>
        <p:txBody>
          <a:bodyPr wrap="square" lIns="0" tIns="0" rIns="0" bIns="0" rtlCol="0" anchor="ctr"/>
          <a:lstStyle/>
          <a:p>
            <a:pPr indent="0" marL="0">
              <a:buNone/>
            </a:pPr>
            <a:r>
              <a:rPr lang="en-US" sz="1800" i="1" dirty="0">
                <a:solidFill>
                  <a:srgbClr val="2C5F2D"/>
                </a:solidFill>
                <a:latin typeface="Cambria" pitchFamily="34" charset="0"/>
                <a:ea typeface="Cambria" pitchFamily="34" charset="-122"/>
                <a:cs typeface="Cambria" pitchFamily="34" charset="-120"/>
              </a:rPr>
              <a:t>“Why is the grain flow sensor for the Harvester X9 short at Prairie Junction?”</a:t>
            </a:r>
            <a:endParaRPr lang="en-US" sz="1800" dirty="0"/>
          </a:p>
        </p:txBody>
      </p:sp>
      <p:sp>
        <p:nvSpPr>
          <p:cNvPr id="5" name="Shape 3"/>
          <p:cNvSpPr/>
          <p:nvPr/>
        </p:nvSpPr>
        <p:spPr>
          <a:xfrm>
            <a:off x="640080" y="2788920"/>
            <a:ext cx="566928" cy="566928"/>
          </a:xfrm>
          <a:prstGeom prst="ellipse">
            <a:avLst/>
          </a:prstGeom>
          <a:solidFill>
            <a:srgbClr val="97BC62"/>
          </a:solidFill>
          <a:ln/>
        </p:spPr>
      </p:sp>
      <p:sp>
        <p:nvSpPr>
          <p:cNvPr id="6" name="Text 4"/>
          <p:cNvSpPr txBox="1"/>
          <p:nvPr/>
        </p:nvSpPr>
        <p:spPr>
          <a:xfrm>
            <a:off x="640080" y="278892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a:t>
            </a:r>
            <a:endParaRPr lang="en-US" sz="1700" dirty="0"/>
          </a:p>
        </p:txBody>
      </p:sp>
      <p:sp>
        <p:nvSpPr>
          <p:cNvPr id="7" name="Text 5"/>
          <p:cNvSpPr txBox="1"/>
          <p:nvPr/>
        </p:nvSpPr>
        <p:spPr>
          <a:xfrm>
            <a:off x="1389888" y="2770632"/>
            <a:ext cx="4572000" cy="36576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Names the causes</a:t>
            </a:r>
            <a:endParaRPr lang="en-US" sz="1700" dirty="0"/>
          </a:p>
        </p:txBody>
      </p:sp>
      <p:sp>
        <p:nvSpPr>
          <p:cNvPr id="8" name="Text 6"/>
          <p:cNvSpPr txBox="1"/>
          <p:nvPr/>
        </p:nvSpPr>
        <p:spPr>
          <a:xfrm>
            <a:off x="1389888" y="3172968"/>
            <a:ext cx="4572000" cy="777240"/>
          </a:xfrm>
          <a:prstGeom prst="rect">
            <a:avLst/>
          </a:prstGeom>
          <a:noFill/>
          <a:ln/>
        </p:spPr>
        <p:txBody>
          <a:bodyPr wrap="square" lIns="0" tIns="0" rIns="0" bIns="0" rtlCol="0" anchor="ctr"/>
          <a:lstStyle/>
          <a:p>
            <a:pPr indent="0" marL="0">
              <a:buNone/>
            </a:pPr>
            <a:r>
              <a:rPr lang="en-US" sz="1250" dirty="0">
                <a:solidFill>
                  <a:srgbClr val="5A6B5A"/>
                </a:solidFill>
                <a:latin typeface="Calibri" pitchFamily="34" charset="0"/>
                <a:ea typeface="Calibri" pitchFamily="34" charset="-122"/>
                <a:cs typeface="Calibri" pitchFamily="34" charset="-120"/>
              </a:rPr>
              <a:t>Ranked, with a confidence figure on each — not a single guess</a:t>
            </a:r>
            <a:endParaRPr lang="en-US" sz="1250" dirty="0"/>
          </a:p>
        </p:txBody>
      </p:sp>
      <p:sp>
        <p:nvSpPr>
          <p:cNvPr id="9" name="Shape 7"/>
          <p:cNvSpPr/>
          <p:nvPr/>
        </p:nvSpPr>
        <p:spPr>
          <a:xfrm>
            <a:off x="6263640" y="2788920"/>
            <a:ext cx="566928" cy="566928"/>
          </a:xfrm>
          <a:prstGeom prst="ellipse">
            <a:avLst/>
          </a:prstGeom>
          <a:solidFill>
            <a:srgbClr val="97BC62"/>
          </a:solidFill>
          <a:ln/>
        </p:spPr>
      </p:sp>
      <p:sp>
        <p:nvSpPr>
          <p:cNvPr id="10" name="Text 8"/>
          <p:cNvSpPr txBox="1"/>
          <p:nvPr/>
        </p:nvSpPr>
        <p:spPr>
          <a:xfrm>
            <a:off x="6263640" y="278892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a:t>
            </a:r>
            <a:endParaRPr lang="en-US" sz="1700" dirty="0"/>
          </a:p>
        </p:txBody>
      </p:sp>
      <p:sp>
        <p:nvSpPr>
          <p:cNvPr id="11" name="Text 9"/>
          <p:cNvSpPr txBox="1"/>
          <p:nvPr/>
        </p:nvSpPr>
        <p:spPr>
          <a:xfrm>
            <a:off x="7013448" y="2770632"/>
            <a:ext cx="4572000" cy="36576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Shows its receipts</a:t>
            </a:r>
            <a:endParaRPr lang="en-US" sz="1700" dirty="0"/>
          </a:p>
        </p:txBody>
      </p:sp>
      <p:sp>
        <p:nvSpPr>
          <p:cNvPr id="12" name="Text 10"/>
          <p:cNvSpPr txBox="1"/>
          <p:nvPr/>
        </p:nvSpPr>
        <p:spPr>
          <a:xfrm>
            <a:off x="7013448" y="3172968"/>
            <a:ext cx="4572000" cy="777240"/>
          </a:xfrm>
          <a:prstGeom prst="rect">
            <a:avLst/>
          </a:prstGeom>
          <a:noFill/>
          <a:ln/>
        </p:spPr>
        <p:txBody>
          <a:bodyPr wrap="square" lIns="0" tIns="0" rIns="0" bIns="0" rtlCol="0" anchor="ctr"/>
          <a:lstStyle/>
          <a:p>
            <a:pPr indent="0" marL="0">
              <a:buNone/>
            </a:pPr>
            <a:r>
              <a:rPr lang="en-US" sz="1250" dirty="0">
                <a:solidFill>
                  <a:srgbClr val="5A6B5A"/>
                </a:solidFill>
                <a:latin typeface="Calibri" pitchFamily="34" charset="0"/>
                <a:ea typeface="Calibri" pitchFamily="34" charset="-122"/>
                <a:cs typeface="Calibri" pitchFamily="34" charset="-120"/>
              </a:rPr>
              <a:t>Every claim points at the exact record it came from</a:t>
            </a:r>
            <a:endParaRPr lang="en-US" sz="1250" dirty="0"/>
          </a:p>
        </p:txBody>
      </p:sp>
      <p:sp>
        <p:nvSpPr>
          <p:cNvPr id="13" name="Shape 11"/>
          <p:cNvSpPr/>
          <p:nvPr/>
        </p:nvSpPr>
        <p:spPr>
          <a:xfrm>
            <a:off x="640080" y="4389120"/>
            <a:ext cx="566928" cy="566928"/>
          </a:xfrm>
          <a:prstGeom prst="ellipse">
            <a:avLst/>
          </a:prstGeom>
          <a:solidFill>
            <a:srgbClr val="97BC62"/>
          </a:solidFill>
          <a:ln/>
        </p:spPr>
      </p:sp>
      <p:sp>
        <p:nvSpPr>
          <p:cNvPr id="14" name="Text 12"/>
          <p:cNvSpPr txBox="1"/>
          <p:nvPr/>
        </p:nvSpPr>
        <p:spPr>
          <a:xfrm>
            <a:off x="640080" y="438912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a:t>
            </a:r>
            <a:endParaRPr lang="en-US" sz="1700" dirty="0"/>
          </a:p>
        </p:txBody>
      </p:sp>
      <p:sp>
        <p:nvSpPr>
          <p:cNvPr id="15" name="Text 13"/>
          <p:cNvSpPr txBox="1"/>
          <p:nvPr/>
        </p:nvSpPr>
        <p:spPr>
          <a:xfrm>
            <a:off x="1389888" y="4370832"/>
            <a:ext cx="4572000" cy="36576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Says what is missing</a:t>
            </a:r>
            <a:endParaRPr lang="en-US" sz="1700" dirty="0"/>
          </a:p>
        </p:txBody>
      </p:sp>
      <p:sp>
        <p:nvSpPr>
          <p:cNvPr id="16" name="Text 14"/>
          <p:cNvSpPr txBox="1"/>
          <p:nvPr/>
        </p:nvSpPr>
        <p:spPr>
          <a:xfrm>
            <a:off x="1389888" y="4773168"/>
            <a:ext cx="4572000" cy="777240"/>
          </a:xfrm>
          <a:prstGeom prst="rect">
            <a:avLst/>
          </a:prstGeom>
          <a:noFill/>
          <a:ln/>
        </p:spPr>
        <p:txBody>
          <a:bodyPr wrap="square" lIns="0" tIns="0" rIns="0" bIns="0" rtlCol="0" anchor="ctr"/>
          <a:lstStyle/>
          <a:p>
            <a:pPr indent="0" marL="0">
              <a:buNone/>
            </a:pPr>
            <a:r>
              <a:rPr lang="en-US" sz="1250" dirty="0">
                <a:solidFill>
                  <a:srgbClr val="5A6B5A"/>
                </a:solidFill>
                <a:latin typeface="Calibri" pitchFamily="34" charset="0"/>
                <a:ea typeface="Calibri" pitchFamily="34" charset="-122"/>
                <a:cs typeface="Calibri" pitchFamily="34" charset="-120"/>
              </a:rPr>
              <a:t>Where the data runs out, it says so instead of filling the gap</a:t>
            </a:r>
            <a:endParaRPr lang="en-US" sz="1250" dirty="0"/>
          </a:p>
        </p:txBody>
      </p:sp>
      <p:sp>
        <p:nvSpPr>
          <p:cNvPr id="17" name="Shape 15"/>
          <p:cNvSpPr/>
          <p:nvPr/>
        </p:nvSpPr>
        <p:spPr>
          <a:xfrm>
            <a:off x="6263640" y="4389120"/>
            <a:ext cx="566928" cy="566928"/>
          </a:xfrm>
          <a:prstGeom prst="ellipse">
            <a:avLst/>
          </a:prstGeom>
          <a:solidFill>
            <a:srgbClr val="97BC62"/>
          </a:solidFill>
          <a:ln/>
        </p:spPr>
      </p:sp>
      <p:sp>
        <p:nvSpPr>
          <p:cNvPr id="18" name="Text 16"/>
          <p:cNvSpPr txBox="1"/>
          <p:nvPr/>
        </p:nvSpPr>
        <p:spPr>
          <a:xfrm>
            <a:off x="6263640" y="438912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a:t>
            </a:r>
            <a:endParaRPr lang="en-US" sz="1700" dirty="0"/>
          </a:p>
        </p:txBody>
      </p:sp>
      <p:sp>
        <p:nvSpPr>
          <p:cNvPr id="19" name="Text 17"/>
          <p:cNvSpPr txBox="1"/>
          <p:nvPr/>
        </p:nvSpPr>
        <p:spPr>
          <a:xfrm>
            <a:off x="7013448" y="4370832"/>
            <a:ext cx="4572000" cy="36576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Recommends, never acts</a:t>
            </a:r>
            <a:endParaRPr lang="en-US" sz="1700" dirty="0"/>
          </a:p>
        </p:txBody>
      </p:sp>
      <p:sp>
        <p:nvSpPr>
          <p:cNvPr id="20" name="Text 18"/>
          <p:cNvSpPr txBox="1"/>
          <p:nvPr/>
        </p:nvSpPr>
        <p:spPr>
          <a:xfrm>
            <a:off x="7013448" y="4773168"/>
            <a:ext cx="4572000" cy="777240"/>
          </a:xfrm>
          <a:prstGeom prst="rect">
            <a:avLst/>
          </a:prstGeom>
          <a:noFill/>
          <a:ln/>
        </p:spPr>
        <p:txBody>
          <a:bodyPr wrap="square" lIns="0" tIns="0" rIns="0" bIns="0" rtlCol="0" anchor="ctr"/>
          <a:lstStyle/>
          <a:p>
            <a:pPr indent="0" marL="0">
              <a:buNone/>
            </a:pPr>
            <a:r>
              <a:rPr lang="en-US" sz="1250" dirty="0">
                <a:solidFill>
                  <a:srgbClr val="5A6B5A"/>
                </a:solidFill>
                <a:latin typeface="Calibri" pitchFamily="34" charset="0"/>
                <a:ea typeface="Calibri" pitchFamily="34" charset="-122"/>
                <a:cs typeface="Calibri" pitchFamily="34" charset="-120"/>
              </a:rPr>
              <a:t>Options for a person to weigh. It places no orders.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1C2A1C"/>
                </a:solidFill>
                <a:latin typeface="Cambria" pitchFamily="34" charset="0"/>
                <a:ea typeface="Cambria" pitchFamily="34" charset="-122"/>
                <a:cs typeface="Cambria" pitchFamily="34" charset="-120"/>
              </a:rPr>
              <a:t>How it works</a:t>
            </a:r>
            <a:endParaRPr lang="en-US" sz="3800" dirty="0"/>
          </a:p>
        </p:txBody>
      </p:sp>
      <p:sp>
        <p:nvSpPr>
          <p:cNvPr id="3" name="Text 1"/>
          <p:cNvSpPr txBox="1"/>
          <p:nvPr/>
        </p:nvSpPr>
        <p:spPr>
          <a:xfrm>
            <a:off x="640080" y="1371600"/>
            <a:ext cx="10881360" cy="365760"/>
          </a:xfrm>
          <a:prstGeom prst="rect">
            <a:avLst/>
          </a:prstGeom>
          <a:noFill/>
          <a:ln/>
        </p:spPr>
        <p:txBody>
          <a:bodyPr wrap="square" lIns="0" tIns="0" rIns="0" bIns="0" rtlCol="0" anchor="ctr"/>
          <a:lstStyle/>
          <a:p>
            <a:pPr indent="0" marL="0">
              <a:buNone/>
            </a:pPr>
            <a:r>
              <a:rPr lang="en-US" sz="1400" dirty="0">
                <a:solidFill>
                  <a:srgbClr val="5A6B5A"/>
                </a:solidFill>
                <a:latin typeface="Calibri" pitchFamily="34" charset="0"/>
                <a:ea typeface="Calibri" pitchFamily="34" charset="-122"/>
                <a:cs typeface="Calibri" pitchFamily="34" charset="-120"/>
              </a:rPr>
              <a:t>Two stores, searched together. One holds the numbers, the other holds what people wrote about them.</a:t>
            </a:r>
            <a:endParaRPr lang="en-US" sz="1400" dirty="0"/>
          </a:p>
        </p:txBody>
      </p:sp>
      <p:sp>
        <p:nvSpPr>
          <p:cNvPr id="4" name="Shape 2"/>
          <p:cNvSpPr/>
          <p:nvPr/>
        </p:nvSpPr>
        <p:spPr>
          <a:xfrm>
            <a:off x="640080" y="2011680"/>
            <a:ext cx="2606040" cy="3200400"/>
          </a:xfrm>
          <a:prstGeom prst="roundRect">
            <a:avLst>
              <a:gd name="adj" fmla="val 3509"/>
            </a:avLst>
          </a:prstGeom>
          <a:solidFill>
            <a:srgbClr val="EDF2EA"/>
          </a:solidFill>
          <a:ln/>
        </p:spPr>
      </p:sp>
      <p:sp>
        <p:nvSpPr>
          <p:cNvPr id="5" name="Shape 3"/>
          <p:cNvSpPr/>
          <p:nvPr/>
        </p:nvSpPr>
        <p:spPr>
          <a:xfrm>
            <a:off x="914400" y="2286000"/>
            <a:ext cx="566928" cy="566928"/>
          </a:xfrm>
          <a:prstGeom prst="ellipse">
            <a:avLst/>
          </a:prstGeom>
          <a:solidFill>
            <a:srgbClr val="97BC62"/>
          </a:solidFill>
          <a:ln/>
        </p:spPr>
      </p:sp>
      <p:sp>
        <p:nvSpPr>
          <p:cNvPr id="6" name="Text 4"/>
          <p:cNvSpPr txBox="1"/>
          <p:nvPr/>
        </p:nvSpPr>
        <p:spPr>
          <a:xfrm>
            <a:off x="914400" y="228600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914400" y="3017520"/>
            <a:ext cx="2103120" cy="4114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Understand</a:t>
            </a:r>
            <a:endParaRPr lang="en-US" sz="1600" dirty="0"/>
          </a:p>
        </p:txBody>
      </p:sp>
      <p:sp>
        <p:nvSpPr>
          <p:cNvPr id="8" name="Text 6"/>
          <p:cNvSpPr txBox="1"/>
          <p:nvPr/>
        </p:nvSpPr>
        <p:spPr>
          <a:xfrm>
            <a:off x="914400" y="3474720"/>
            <a:ext cx="2103120" cy="1554480"/>
          </a:xfrm>
          <a:prstGeom prst="rect">
            <a:avLst/>
          </a:prstGeom>
          <a:noFill/>
          <a:ln/>
        </p:spPr>
        <p:txBody>
          <a:bodyPr wrap="square" lIns="0" tIns="0" rIns="0" bIns="0" rtlCol="0" anchor="ctr"/>
          <a:lstStyle/>
          <a:p>
            <a:pPr indent="0" marL="0">
              <a:lnSpc>
                <a:spcPct val="115000"/>
              </a:lnSpc>
              <a:buNone/>
            </a:pPr>
            <a:r>
              <a:rPr lang="en-US" sz="1150" dirty="0">
                <a:solidFill>
                  <a:srgbClr val="5A6B5A"/>
                </a:solidFill>
                <a:latin typeface="Calibri" pitchFamily="34" charset="0"/>
                <a:ea typeface="Calibri" pitchFamily="34" charset="-122"/>
                <a:cs typeface="Calibri" pitchFamily="34" charset="-120"/>
              </a:rPr>
              <a:t>Turns a phrase like “the Prairie Junction plant” into the record it means, and asks which one when the phrase fits many</a:t>
            </a:r>
            <a:endParaRPr lang="en-US" sz="1150" dirty="0"/>
          </a:p>
        </p:txBody>
      </p:sp>
      <p:sp>
        <p:nvSpPr>
          <p:cNvPr id="9" name="Shape 7"/>
          <p:cNvSpPr/>
          <p:nvPr/>
        </p:nvSpPr>
        <p:spPr>
          <a:xfrm>
            <a:off x="3493008" y="2011680"/>
            <a:ext cx="2606040" cy="3200400"/>
          </a:xfrm>
          <a:prstGeom prst="roundRect">
            <a:avLst>
              <a:gd name="adj" fmla="val 3509"/>
            </a:avLst>
          </a:prstGeom>
          <a:solidFill>
            <a:srgbClr val="F5F5F5"/>
          </a:solidFill>
          <a:ln/>
        </p:spPr>
      </p:sp>
      <p:sp>
        <p:nvSpPr>
          <p:cNvPr id="10" name="Shape 8"/>
          <p:cNvSpPr/>
          <p:nvPr/>
        </p:nvSpPr>
        <p:spPr>
          <a:xfrm>
            <a:off x="3767328" y="2286000"/>
            <a:ext cx="566928" cy="566928"/>
          </a:xfrm>
          <a:prstGeom prst="ellipse">
            <a:avLst/>
          </a:prstGeom>
          <a:solidFill>
            <a:srgbClr val="97BC62"/>
          </a:solidFill>
          <a:ln/>
        </p:spPr>
      </p:sp>
      <p:sp>
        <p:nvSpPr>
          <p:cNvPr id="11" name="Text 9"/>
          <p:cNvSpPr txBox="1"/>
          <p:nvPr/>
        </p:nvSpPr>
        <p:spPr>
          <a:xfrm>
            <a:off x="3767328" y="228600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3767328" y="3017520"/>
            <a:ext cx="2103120" cy="4114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Look up</a:t>
            </a:r>
            <a:endParaRPr lang="en-US" sz="1600" dirty="0"/>
          </a:p>
        </p:txBody>
      </p:sp>
      <p:sp>
        <p:nvSpPr>
          <p:cNvPr id="13" name="Text 11"/>
          <p:cNvSpPr txBox="1"/>
          <p:nvPr/>
        </p:nvSpPr>
        <p:spPr>
          <a:xfrm>
            <a:off x="3767328" y="3474720"/>
            <a:ext cx="2103120" cy="1554480"/>
          </a:xfrm>
          <a:prstGeom prst="rect">
            <a:avLst/>
          </a:prstGeom>
          <a:noFill/>
          <a:ln/>
        </p:spPr>
        <p:txBody>
          <a:bodyPr wrap="square" lIns="0" tIns="0" rIns="0" bIns="0" rtlCol="0" anchor="ctr"/>
          <a:lstStyle/>
          <a:p>
            <a:pPr indent="0" marL="0">
              <a:lnSpc>
                <a:spcPct val="115000"/>
              </a:lnSpc>
              <a:buNone/>
            </a:pPr>
            <a:r>
              <a:rPr lang="en-US" sz="1150" dirty="0">
                <a:solidFill>
                  <a:srgbClr val="5A6B5A"/>
                </a:solidFill>
                <a:latin typeface="Calibri" pitchFamily="34" charset="0"/>
                <a:ea typeface="Calibri" pitchFamily="34" charset="-122"/>
                <a:cs typeface="Calibri" pitchFamily="34" charset="-120"/>
              </a:rPr>
              <a:t>Chooses its own path through twelve lookups across orders, stock, quality, plans and forecasts</a:t>
            </a:r>
            <a:endParaRPr lang="en-US" sz="1150" dirty="0"/>
          </a:p>
        </p:txBody>
      </p:sp>
      <p:sp>
        <p:nvSpPr>
          <p:cNvPr id="14" name="Shape 12"/>
          <p:cNvSpPr/>
          <p:nvPr/>
        </p:nvSpPr>
        <p:spPr>
          <a:xfrm>
            <a:off x="6345936" y="2011680"/>
            <a:ext cx="2606040" cy="3200400"/>
          </a:xfrm>
          <a:prstGeom prst="roundRect">
            <a:avLst>
              <a:gd name="adj" fmla="val 3509"/>
            </a:avLst>
          </a:prstGeom>
          <a:solidFill>
            <a:srgbClr val="EDF2EA"/>
          </a:solidFill>
          <a:ln/>
        </p:spPr>
      </p:sp>
      <p:sp>
        <p:nvSpPr>
          <p:cNvPr id="15" name="Shape 13"/>
          <p:cNvSpPr/>
          <p:nvPr/>
        </p:nvSpPr>
        <p:spPr>
          <a:xfrm>
            <a:off x="6620256" y="2286000"/>
            <a:ext cx="566928" cy="566928"/>
          </a:xfrm>
          <a:prstGeom prst="ellipse">
            <a:avLst/>
          </a:prstGeom>
          <a:solidFill>
            <a:srgbClr val="97BC62"/>
          </a:solidFill>
          <a:ln/>
        </p:spPr>
      </p:sp>
      <p:sp>
        <p:nvSpPr>
          <p:cNvPr id="16" name="Text 14"/>
          <p:cNvSpPr txBox="1"/>
          <p:nvPr/>
        </p:nvSpPr>
        <p:spPr>
          <a:xfrm>
            <a:off x="6620256" y="228600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3</a:t>
            </a:r>
            <a:endParaRPr lang="en-US" sz="1700" dirty="0"/>
          </a:p>
        </p:txBody>
      </p:sp>
      <p:sp>
        <p:nvSpPr>
          <p:cNvPr id="17" name="Text 15"/>
          <p:cNvSpPr txBox="1"/>
          <p:nvPr/>
        </p:nvSpPr>
        <p:spPr>
          <a:xfrm>
            <a:off x="6620256" y="3017520"/>
            <a:ext cx="2103120" cy="4114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Read the notes</a:t>
            </a:r>
            <a:endParaRPr lang="en-US" sz="1600" dirty="0"/>
          </a:p>
        </p:txBody>
      </p:sp>
      <p:sp>
        <p:nvSpPr>
          <p:cNvPr id="18" name="Text 16"/>
          <p:cNvSpPr txBox="1"/>
          <p:nvPr/>
        </p:nvSpPr>
        <p:spPr>
          <a:xfrm>
            <a:off x="6620256" y="3474720"/>
            <a:ext cx="2103120" cy="1554480"/>
          </a:xfrm>
          <a:prstGeom prst="rect">
            <a:avLst/>
          </a:prstGeom>
          <a:noFill/>
          <a:ln/>
        </p:spPr>
        <p:txBody>
          <a:bodyPr wrap="square" lIns="0" tIns="0" rIns="0" bIns="0" rtlCol="0" anchor="ctr"/>
          <a:lstStyle/>
          <a:p>
            <a:pPr indent="0" marL="0">
              <a:lnSpc>
                <a:spcPct val="115000"/>
              </a:lnSpc>
              <a:buNone/>
            </a:pPr>
            <a:r>
              <a:rPr lang="en-US" sz="1150" dirty="0">
                <a:solidFill>
                  <a:srgbClr val="5A6B5A"/>
                </a:solidFill>
                <a:latin typeface="Calibri" pitchFamily="34" charset="0"/>
                <a:ea typeface="Calibri" pitchFamily="34" charset="-122"/>
                <a:cs typeface="Calibri" pitchFamily="34" charset="-120"/>
              </a:rPr>
              <a:t>Searches what planners and buyers wrote, then follows those notes back into the records they name</a:t>
            </a:r>
            <a:endParaRPr lang="en-US" sz="1150" dirty="0"/>
          </a:p>
        </p:txBody>
      </p:sp>
      <p:sp>
        <p:nvSpPr>
          <p:cNvPr id="19" name="Shape 17"/>
          <p:cNvSpPr/>
          <p:nvPr/>
        </p:nvSpPr>
        <p:spPr>
          <a:xfrm>
            <a:off x="9198864" y="2011680"/>
            <a:ext cx="2606040" cy="3200400"/>
          </a:xfrm>
          <a:prstGeom prst="roundRect">
            <a:avLst>
              <a:gd name="adj" fmla="val 3509"/>
            </a:avLst>
          </a:prstGeom>
          <a:solidFill>
            <a:srgbClr val="F5F5F5"/>
          </a:solidFill>
          <a:ln/>
        </p:spPr>
      </p:sp>
      <p:sp>
        <p:nvSpPr>
          <p:cNvPr id="20" name="Shape 18"/>
          <p:cNvSpPr/>
          <p:nvPr/>
        </p:nvSpPr>
        <p:spPr>
          <a:xfrm>
            <a:off x="9473184" y="2286000"/>
            <a:ext cx="566928" cy="566928"/>
          </a:xfrm>
          <a:prstGeom prst="ellipse">
            <a:avLst/>
          </a:prstGeom>
          <a:solidFill>
            <a:srgbClr val="97BC62"/>
          </a:solidFill>
          <a:ln/>
        </p:spPr>
      </p:sp>
      <p:sp>
        <p:nvSpPr>
          <p:cNvPr id="21" name="Text 19"/>
          <p:cNvSpPr txBox="1"/>
          <p:nvPr/>
        </p:nvSpPr>
        <p:spPr>
          <a:xfrm>
            <a:off x="9473184" y="228600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4</a:t>
            </a:r>
            <a:endParaRPr lang="en-US" sz="1700" dirty="0"/>
          </a:p>
        </p:txBody>
      </p:sp>
      <p:sp>
        <p:nvSpPr>
          <p:cNvPr id="22" name="Text 20"/>
          <p:cNvSpPr txBox="1"/>
          <p:nvPr/>
        </p:nvSpPr>
        <p:spPr>
          <a:xfrm>
            <a:off x="9473184" y="3017520"/>
            <a:ext cx="2103120" cy="4114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Answer &amp; check</a:t>
            </a:r>
            <a:endParaRPr lang="en-US" sz="1600" dirty="0"/>
          </a:p>
        </p:txBody>
      </p:sp>
      <p:sp>
        <p:nvSpPr>
          <p:cNvPr id="23" name="Text 21"/>
          <p:cNvSpPr txBox="1"/>
          <p:nvPr/>
        </p:nvSpPr>
        <p:spPr>
          <a:xfrm>
            <a:off x="9473184" y="3474720"/>
            <a:ext cx="2103120" cy="1554480"/>
          </a:xfrm>
          <a:prstGeom prst="rect">
            <a:avLst/>
          </a:prstGeom>
          <a:noFill/>
          <a:ln/>
        </p:spPr>
        <p:txBody>
          <a:bodyPr wrap="square" lIns="0" tIns="0" rIns="0" bIns="0" rtlCol="0" anchor="ctr"/>
          <a:lstStyle/>
          <a:p>
            <a:pPr indent="0" marL="0">
              <a:lnSpc>
                <a:spcPct val="115000"/>
              </a:lnSpc>
              <a:buNone/>
            </a:pPr>
            <a:r>
              <a:rPr lang="en-US" sz="1150" dirty="0">
                <a:solidFill>
                  <a:srgbClr val="5A6B5A"/>
                </a:solidFill>
                <a:latin typeface="Calibri" pitchFamily="34" charset="0"/>
                <a:ea typeface="Calibri" pitchFamily="34" charset="-122"/>
                <a:cs typeface="Calibri" pitchFamily="34" charset="-120"/>
              </a:rPr>
              <a:t>Writes the diagnosis, then every reference is verified before you see it</a:t>
            </a:r>
            <a:endParaRPr lang="en-US" sz="1150" dirty="0"/>
          </a:p>
        </p:txBody>
      </p:sp>
      <p:sp>
        <p:nvSpPr>
          <p:cNvPr id="24" name="Text 22"/>
          <p:cNvSpPr txBox="1"/>
          <p:nvPr/>
        </p:nvSpPr>
        <p:spPr>
          <a:xfrm>
            <a:off x="640080" y="5577840"/>
            <a:ext cx="10881360" cy="365760"/>
          </a:xfrm>
          <a:prstGeom prst="rect">
            <a:avLst/>
          </a:prstGeom>
          <a:noFill/>
          <a:ln/>
        </p:spPr>
        <p:txBody>
          <a:bodyPr wrap="square" lIns="0" tIns="0" rIns="0" bIns="0" rtlCol="0" anchor="ctr"/>
          <a:lstStyle/>
          <a:p>
            <a:pPr indent="0" marL="0">
              <a:buNone/>
            </a:pPr>
            <a:r>
              <a:rPr lang="en-US" sz="1200" dirty="0">
                <a:solidFill>
                  <a:srgbClr val="5A6B5A"/>
                </a:solidFill>
                <a:latin typeface="Calibri" pitchFamily="34" charset="0"/>
                <a:ea typeface="Calibri" pitchFamily="34" charset="-122"/>
                <a:cs typeface="Calibri" pitchFamily="34" charset="-120"/>
              </a:rPr>
              <a:t>232,435 records and 552,155 links between them  ·  59 planning notes  ·  a full rebuild is reproducible from the source files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5F2D"/>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it found</a:t>
            </a:r>
            <a:endParaRPr lang="en-US" sz="3800" dirty="0"/>
          </a:p>
        </p:txBody>
      </p:sp>
      <p:sp>
        <p:nvSpPr>
          <p:cNvPr id="3" name="Text 1"/>
          <p:cNvSpPr txBox="1"/>
          <p:nvPr/>
        </p:nvSpPr>
        <p:spPr>
          <a:xfrm>
            <a:off x="640080" y="1371600"/>
            <a:ext cx="10881360" cy="365760"/>
          </a:xfrm>
          <a:prstGeom prst="rect">
            <a:avLst/>
          </a:prstGeom>
          <a:noFill/>
          <a:ln/>
        </p:spPr>
        <p:txBody>
          <a:bodyPr wrap="square" lIns="0" tIns="0" rIns="0" bIns="0" rtlCol="0" anchor="ctr"/>
          <a:lstStyle/>
          <a:p>
            <a:pPr indent="0" marL="0">
              <a:buNone/>
            </a:pPr>
            <a:r>
              <a:rPr lang="en-US" sz="1400" dirty="0">
                <a:solidFill>
                  <a:srgbClr val="97BC62"/>
                </a:solidFill>
                <a:latin typeface="Calibri" pitchFamily="34" charset="0"/>
                <a:ea typeface="Calibri" pitchFamily="34" charset="-122"/>
                <a:cs typeface="Calibri" pitchFamily="34" charset="-120"/>
              </a:rPr>
              <a:t>From a question containing no record numbers at all, it chose nine lookups and returned this.</a:t>
            </a:r>
            <a:endParaRPr lang="en-US" sz="1400" dirty="0"/>
          </a:p>
        </p:txBody>
      </p:sp>
      <p:sp>
        <p:nvSpPr>
          <p:cNvPr id="4" name="Shape 2"/>
          <p:cNvSpPr/>
          <p:nvPr/>
        </p:nvSpPr>
        <p:spPr>
          <a:xfrm>
            <a:off x="640080" y="2057400"/>
            <a:ext cx="6766560" cy="1005840"/>
          </a:xfrm>
          <a:prstGeom prst="roundRect">
            <a:avLst>
              <a:gd name="adj" fmla="val 7273"/>
            </a:avLst>
          </a:prstGeom>
          <a:solidFill>
            <a:srgbClr val="3A7238"/>
          </a:solidFill>
          <a:ln/>
        </p:spPr>
      </p:sp>
      <p:sp>
        <p:nvSpPr>
          <p:cNvPr id="5" name="Text 3"/>
          <p:cNvSpPr txBox="1"/>
          <p:nvPr/>
        </p:nvSpPr>
        <p:spPr>
          <a:xfrm>
            <a:off x="914400" y="2176272"/>
            <a:ext cx="630936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late delivery</a:t>
            </a:r>
            <a:endParaRPr lang="en-US" sz="1500" dirty="0"/>
          </a:p>
        </p:txBody>
      </p:sp>
      <p:sp>
        <p:nvSpPr>
          <p:cNvPr id="6" name="Text 4"/>
          <p:cNvSpPr txBox="1"/>
          <p:nvPr/>
        </p:nvSpPr>
        <p:spPr>
          <a:xfrm>
            <a:off x="914400" y="2514600"/>
            <a:ext cx="6309360" cy="457200"/>
          </a:xfrm>
          <a:prstGeom prst="rect">
            <a:avLst/>
          </a:prstGeom>
          <a:noFill/>
          <a:ln/>
        </p:spPr>
        <p:txBody>
          <a:bodyPr wrap="square" lIns="0" tIns="0" rIns="0" bIns="0" rtlCol="0" anchor="ctr"/>
          <a:lstStyle/>
          <a:p>
            <a:pPr indent="0" marL="0">
              <a:buNone/>
            </a:pPr>
            <a:r>
              <a:rPr lang="en-US" sz="1150" dirty="0">
                <a:solidFill>
                  <a:srgbClr val="D6E5CE"/>
                </a:solidFill>
                <a:latin typeface="Calibri" pitchFamily="34" charset="0"/>
                <a:ea typeface="Calibri" pitchFamily="34" charset="-122"/>
                <a:cs typeface="Calibri" pitchFamily="34" charset="-120"/>
              </a:rPr>
              <a:t>600 units promised for 20 August. Two shipments, both delayed, on different routes — the records disagree and it says so.</a:t>
            </a:r>
            <a:endParaRPr lang="en-US" sz="1150" dirty="0"/>
          </a:p>
        </p:txBody>
      </p:sp>
      <p:sp>
        <p:nvSpPr>
          <p:cNvPr id="7" name="Shape 5"/>
          <p:cNvSpPr/>
          <p:nvPr/>
        </p:nvSpPr>
        <p:spPr>
          <a:xfrm>
            <a:off x="640080" y="3200400"/>
            <a:ext cx="6766560" cy="1005840"/>
          </a:xfrm>
          <a:prstGeom prst="roundRect">
            <a:avLst>
              <a:gd name="adj" fmla="val 7273"/>
            </a:avLst>
          </a:prstGeom>
          <a:solidFill>
            <a:srgbClr val="3A7238"/>
          </a:solidFill>
          <a:ln/>
        </p:spPr>
      </p:sp>
      <p:sp>
        <p:nvSpPr>
          <p:cNvPr id="8" name="Text 6"/>
          <p:cNvSpPr txBox="1"/>
          <p:nvPr/>
        </p:nvSpPr>
        <p:spPr>
          <a:xfrm>
            <a:off x="914400" y="3319272"/>
            <a:ext cx="630936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 unrelated quality hold</a:t>
            </a:r>
            <a:endParaRPr lang="en-US" sz="1500" dirty="0"/>
          </a:p>
        </p:txBody>
      </p:sp>
      <p:sp>
        <p:nvSpPr>
          <p:cNvPr id="9" name="Text 7"/>
          <p:cNvSpPr txBox="1"/>
          <p:nvPr/>
        </p:nvSpPr>
        <p:spPr>
          <a:xfrm>
            <a:off x="914400" y="3657600"/>
            <a:ext cx="6309360" cy="457200"/>
          </a:xfrm>
          <a:prstGeom prst="rect">
            <a:avLst/>
          </a:prstGeom>
          <a:noFill/>
          <a:ln/>
        </p:spPr>
        <p:txBody>
          <a:bodyPr wrap="square" lIns="0" tIns="0" rIns="0" bIns="0" rtlCol="0" anchor="ctr"/>
          <a:lstStyle/>
          <a:p>
            <a:pPr indent="0" marL="0">
              <a:buNone/>
            </a:pPr>
            <a:r>
              <a:rPr lang="en-US" sz="1150" dirty="0">
                <a:solidFill>
                  <a:srgbClr val="D6E5CE"/>
                </a:solidFill>
                <a:latin typeface="Calibri" pitchFamily="34" charset="0"/>
                <a:ea typeface="Calibri" pitchFamily="34" charset="-122"/>
                <a:cs typeface="Calibri" pitchFamily="34" charset="-120"/>
              </a:rPr>
              <a:t>340 units of a different batch, still under investigation.</a:t>
            </a:r>
            <a:endParaRPr lang="en-US" sz="1150" dirty="0"/>
          </a:p>
        </p:txBody>
      </p:sp>
      <p:sp>
        <p:nvSpPr>
          <p:cNvPr id="10" name="Shape 8"/>
          <p:cNvSpPr/>
          <p:nvPr/>
        </p:nvSpPr>
        <p:spPr>
          <a:xfrm>
            <a:off x="640080" y="4343400"/>
            <a:ext cx="6766560" cy="1005840"/>
          </a:xfrm>
          <a:prstGeom prst="roundRect">
            <a:avLst>
              <a:gd name="adj" fmla="val 7273"/>
            </a:avLst>
          </a:prstGeom>
          <a:solidFill>
            <a:srgbClr val="3A7238"/>
          </a:solidFill>
          <a:ln/>
        </p:spPr>
      </p:sp>
      <p:sp>
        <p:nvSpPr>
          <p:cNvPr id="11" name="Text 9"/>
          <p:cNvSpPr txBox="1"/>
          <p:nvPr/>
        </p:nvSpPr>
        <p:spPr>
          <a:xfrm>
            <a:off x="914400" y="4462272"/>
            <a:ext cx="630936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Stock already negative</a:t>
            </a:r>
            <a:endParaRPr lang="en-US" sz="1500" dirty="0"/>
          </a:p>
        </p:txBody>
      </p:sp>
      <p:sp>
        <p:nvSpPr>
          <p:cNvPr id="12" name="Text 10"/>
          <p:cNvSpPr txBox="1"/>
          <p:nvPr/>
        </p:nvSpPr>
        <p:spPr>
          <a:xfrm>
            <a:off x="914400" y="4800600"/>
            <a:ext cx="6309360" cy="457200"/>
          </a:xfrm>
          <a:prstGeom prst="rect">
            <a:avLst/>
          </a:prstGeom>
          <a:noFill/>
          <a:ln/>
        </p:spPr>
        <p:txBody>
          <a:bodyPr wrap="square" lIns="0" tIns="0" rIns="0" bIns="0" rtlCol="0" anchor="ctr"/>
          <a:lstStyle/>
          <a:p>
            <a:pPr indent="0" marL="0">
              <a:buNone/>
            </a:pPr>
            <a:r>
              <a:rPr lang="en-US" sz="1150" dirty="0">
                <a:solidFill>
                  <a:srgbClr val="D6E5CE"/>
                </a:solidFill>
                <a:latin typeface="Calibri" pitchFamily="34" charset="0"/>
                <a:ea typeface="Calibri" pitchFamily="34" charset="-122"/>
                <a:cs typeface="Calibri" pitchFamily="34" charset="-120"/>
              </a:rPr>
              <a:t>Committed demand exceeds what is on hand by September.</a:t>
            </a:r>
            <a:endParaRPr lang="en-US" sz="1150" dirty="0"/>
          </a:p>
        </p:txBody>
      </p:sp>
      <p:sp>
        <p:nvSpPr>
          <p:cNvPr id="13" name="Shape 11"/>
          <p:cNvSpPr/>
          <p:nvPr/>
        </p:nvSpPr>
        <p:spPr>
          <a:xfrm>
            <a:off x="7955280" y="2057400"/>
            <a:ext cx="3566160" cy="3291840"/>
          </a:xfrm>
          <a:prstGeom prst="roundRect">
            <a:avLst>
              <a:gd name="adj" fmla="val 2778"/>
            </a:avLst>
          </a:prstGeom>
          <a:solidFill>
            <a:srgbClr val="FFFFFF"/>
          </a:solidFill>
          <a:ln/>
        </p:spPr>
      </p:sp>
      <p:sp>
        <p:nvSpPr>
          <p:cNvPr id="14" name="Text 12"/>
          <p:cNvSpPr txBox="1"/>
          <p:nvPr/>
        </p:nvSpPr>
        <p:spPr>
          <a:xfrm>
            <a:off x="8229600" y="2286000"/>
            <a:ext cx="3017520" cy="365760"/>
          </a:xfrm>
          <a:prstGeom prst="rect">
            <a:avLst/>
          </a:prstGeom>
          <a:noFill/>
          <a:ln/>
        </p:spPr>
        <p:txBody>
          <a:bodyPr wrap="square" lIns="0" tIns="0" rIns="0" bIns="0" rtlCol="0" anchor="ctr"/>
          <a:lstStyle/>
          <a:p>
            <a:pPr indent="0" marL="0">
              <a:buNone/>
            </a:pPr>
            <a:r>
              <a:rPr lang="en-US" sz="1300" b="1" dirty="0">
                <a:solidFill>
                  <a:srgbClr val="2C5F2D"/>
                </a:solidFill>
                <a:latin typeface="Cambria" pitchFamily="34" charset="0"/>
                <a:ea typeface="Cambria" pitchFamily="34" charset="-122"/>
                <a:cs typeface="Cambria" pitchFamily="34" charset="-120"/>
              </a:rPr>
              <a:t>And what it would not say</a:t>
            </a:r>
            <a:endParaRPr lang="en-US" sz="1300" dirty="0"/>
          </a:p>
        </p:txBody>
      </p:sp>
      <p:sp>
        <p:nvSpPr>
          <p:cNvPr id="15" name="Text 13"/>
          <p:cNvSpPr txBox="1"/>
          <p:nvPr/>
        </p:nvSpPr>
        <p:spPr>
          <a:xfrm>
            <a:off x="8229600" y="2788920"/>
            <a:ext cx="3017520" cy="1828800"/>
          </a:xfrm>
          <a:prstGeom prst="rect">
            <a:avLst/>
          </a:prstGeom>
          <a:noFill/>
          <a:ln/>
        </p:spPr>
        <p:txBody>
          <a:bodyPr wrap="square" lIns="0" tIns="0" rIns="0" bIns="0" rtlCol="0" anchor="ctr"/>
          <a:lstStyle/>
          <a:p>
            <a:pPr indent="0" marL="0">
              <a:lnSpc>
                <a:spcPct val="120000"/>
              </a:lnSpc>
              <a:buNone/>
            </a:pPr>
            <a:r>
              <a:rPr lang="en-US" sz="1250" dirty="0">
                <a:solidFill>
                  <a:srgbClr val="1C2A1C"/>
                </a:solidFill>
                <a:latin typeface="Calibri" pitchFamily="34" charset="0"/>
                <a:ea typeface="Calibri" pitchFamily="34" charset="-122"/>
                <a:cs typeface="Calibri" pitchFamily="34" charset="-120"/>
              </a:rPr>
              <a:t>The supplier's capacity records stop four months before the shortage. Rather than estimate, it reports that the evidence does not exist and lowers its own confidence.</a:t>
            </a:r>
            <a:endParaRPr lang="en-US" sz="1250" dirty="0"/>
          </a:p>
        </p:txBody>
      </p:sp>
      <p:sp>
        <p:nvSpPr>
          <p:cNvPr id="16" name="Text 14"/>
          <p:cNvSpPr txBox="1"/>
          <p:nvPr/>
        </p:nvSpPr>
        <p:spPr>
          <a:xfrm>
            <a:off x="8229600" y="4800600"/>
            <a:ext cx="3017520" cy="320040"/>
          </a:xfrm>
          <a:prstGeom prst="rect">
            <a:avLst/>
          </a:prstGeom>
          <a:noFill/>
          <a:ln/>
        </p:spPr>
        <p:txBody>
          <a:bodyPr wrap="square" lIns="0" tIns="0" rIns="0" bIns="0" rtlCol="0" anchor="ctr"/>
          <a:lstStyle/>
          <a:p>
            <a:pPr indent="0" marL="0">
              <a:buNone/>
            </a:pPr>
            <a:r>
              <a:rPr lang="en-US" sz="1200" b="1" dirty="0">
                <a:solidFill>
                  <a:srgbClr val="9A6700"/>
                </a:solidFill>
                <a:latin typeface="Cambria" pitchFamily="34" charset="0"/>
                <a:ea typeface="Cambria" pitchFamily="34" charset="-122"/>
                <a:cs typeface="Cambria" pitchFamily="34" charset="-120"/>
              </a:rPr>
              <a:t>Marked NEEDS REVIEW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1C2A1C"/>
                </a:solidFill>
                <a:latin typeface="Cambria" pitchFamily="34" charset="0"/>
                <a:ea typeface="Cambria" pitchFamily="34" charset="-122"/>
                <a:cs typeface="Cambria" pitchFamily="34" charset="-120"/>
              </a:rPr>
              <a:t>Results</a:t>
            </a:r>
            <a:endParaRPr lang="en-US" sz="3800" dirty="0"/>
          </a:p>
        </p:txBody>
      </p:sp>
      <p:sp>
        <p:nvSpPr>
          <p:cNvPr id="3" name="Text 1"/>
          <p:cNvSpPr txBox="1"/>
          <p:nvPr/>
        </p:nvSpPr>
        <p:spPr>
          <a:xfrm>
            <a:off x="640080" y="1371600"/>
            <a:ext cx="10881360" cy="365760"/>
          </a:xfrm>
          <a:prstGeom prst="rect">
            <a:avLst/>
          </a:prstGeom>
          <a:noFill/>
          <a:ln/>
        </p:spPr>
        <p:txBody>
          <a:bodyPr wrap="square" lIns="0" tIns="0" rIns="0" bIns="0" rtlCol="0" anchor="ctr"/>
          <a:lstStyle/>
          <a:p>
            <a:pPr indent="0" marL="0">
              <a:buNone/>
            </a:pPr>
            <a:r>
              <a:rPr lang="en-US" sz="1400" dirty="0">
                <a:solidFill>
                  <a:srgbClr val="5A6B5A"/>
                </a:solidFill>
                <a:latin typeface="Calibri" pitchFamily="34" charset="0"/>
                <a:ea typeface="Calibri" pitchFamily="34" charset="-122"/>
                <a:cs typeface="Calibri" pitchFamily="34" charset="-120"/>
              </a:rPr>
              <a:t>Fifteen benchmark questions, re-runnable. Scored on facts that are right or wrong, plus a separate model marking quality.</a:t>
            </a:r>
            <a:endParaRPr lang="en-US" sz="1400" dirty="0"/>
          </a:p>
        </p:txBody>
      </p:sp>
      <p:sp>
        <p:nvSpPr>
          <p:cNvPr id="4" name="Text 2"/>
          <p:cNvSpPr txBox="1"/>
          <p:nvPr/>
        </p:nvSpPr>
        <p:spPr>
          <a:xfrm>
            <a:off x="640080" y="2103120"/>
            <a:ext cx="2468880" cy="914400"/>
          </a:xfrm>
          <a:prstGeom prst="rect">
            <a:avLst/>
          </a:prstGeom>
          <a:noFill/>
          <a:ln/>
        </p:spPr>
        <p:txBody>
          <a:bodyPr wrap="square" lIns="0" tIns="0" rIns="0" bIns="0" rtlCol="0" anchor="ctr"/>
          <a:lstStyle/>
          <a:p>
            <a:pPr algn="l" indent="0" marL="0">
              <a:buNone/>
            </a:pPr>
            <a:r>
              <a:rPr lang="en-US" sz="5400" b="1" dirty="0">
                <a:solidFill>
                  <a:srgbClr val="2C5F2D"/>
                </a:solidFill>
                <a:latin typeface="Cambria" pitchFamily="34" charset="0"/>
                <a:ea typeface="Cambria" pitchFamily="34" charset="-122"/>
                <a:cs typeface="Cambria" pitchFamily="34" charset="-120"/>
              </a:rPr>
              <a:t>93%</a:t>
            </a:r>
            <a:endParaRPr lang="en-US" sz="5400" dirty="0"/>
          </a:p>
        </p:txBody>
      </p:sp>
      <p:sp>
        <p:nvSpPr>
          <p:cNvPr id="5" name="Text 3"/>
          <p:cNvSpPr txBox="1"/>
          <p:nvPr/>
        </p:nvSpPr>
        <p:spPr>
          <a:xfrm>
            <a:off x="640080" y="3017520"/>
            <a:ext cx="2468880" cy="685800"/>
          </a:xfrm>
          <a:prstGeom prst="rect">
            <a:avLst/>
          </a:prstGeom>
          <a:noFill/>
          <a:ln/>
        </p:spPr>
        <p:txBody>
          <a:bodyPr wrap="square" lIns="0" tIns="0" rIns="0" bIns="0" rtlCol="0" anchor="ctr"/>
          <a:lstStyle/>
          <a:p>
            <a:pPr algn="l" indent="0" marL="0">
              <a:buNone/>
            </a:pPr>
            <a:r>
              <a:rPr lang="en-US" sz="1200" dirty="0">
                <a:solidFill>
                  <a:srgbClr val="5A6B5A"/>
                </a:solidFill>
                <a:latin typeface="Calibri" pitchFamily="34" charset="0"/>
                <a:ea typeface="Calibri" pitchFamily="34" charset="-122"/>
                <a:cs typeface="Calibri" pitchFamily="34" charset="-120"/>
              </a:rPr>
              <a:t>of factual checks passed after tuning, from 83%</a:t>
            </a:r>
            <a:endParaRPr lang="en-US" sz="1200" dirty="0"/>
          </a:p>
        </p:txBody>
      </p:sp>
      <p:sp>
        <p:nvSpPr>
          <p:cNvPr id="6" name="Text 4"/>
          <p:cNvSpPr txBox="1"/>
          <p:nvPr/>
        </p:nvSpPr>
        <p:spPr>
          <a:xfrm>
            <a:off x="3566160" y="2103120"/>
            <a:ext cx="2468880" cy="914400"/>
          </a:xfrm>
          <a:prstGeom prst="rect">
            <a:avLst/>
          </a:prstGeom>
          <a:noFill/>
          <a:ln/>
        </p:spPr>
        <p:txBody>
          <a:bodyPr wrap="square" lIns="0" tIns="0" rIns="0" bIns="0" rtlCol="0" anchor="ctr"/>
          <a:lstStyle/>
          <a:p>
            <a:pPr algn="l" indent="0" marL="0">
              <a:buNone/>
            </a:pPr>
            <a:r>
              <a:rPr lang="en-US" sz="5400" b="1" dirty="0">
                <a:solidFill>
                  <a:srgbClr val="2C5F2D"/>
                </a:solidFill>
                <a:latin typeface="Cambria" pitchFamily="34" charset="0"/>
                <a:ea typeface="Cambria" pitchFamily="34" charset="-122"/>
                <a:cs typeface="Cambria" pitchFamily="34" charset="-120"/>
              </a:rPr>
              <a:t>1 of 15</a:t>
            </a:r>
            <a:endParaRPr lang="en-US" sz="5400" dirty="0"/>
          </a:p>
        </p:txBody>
      </p:sp>
      <p:sp>
        <p:nvSpPr>
          <p:cNvPr id="7" name="Text 5"/>
          <p:cNvSpPr txBox="1"/>
          <p:nvPr/>
        </p:nvSpPr>
        <p:spPr>
          <a:xfrm>
            <a:off x="3566160" y="3017520"/>
            <a:ext cx="2468880" cy="685800"/>
          </a:xfrm>
          <a:prstGeom prst="rect">
            <a:avLst/>
          </a:prstGeom>
          <a:noFill/>
          <a:ln/>
        </p:spPr>
        <p:txBody>
          <a:bodyPr wrap="square" lIns="0" tIns="0" rIns="0" bIns="0" rtlCol="0" anchor="ctr"/>
          <a:lstStyle/>
          <a:p>
            <a:pPr algn="l" indent="0" marL="0">
              <a:buNone/>
            </a:pPr>
            <a:r>
              <a:rPr lang="en-US" sz="1200" dirty="0">
                <a:solidFill>
                  <a:srgbClr val="5A6B5A"/>
                </a:solidFill>
                <a:latin typeface="Calibri" pitchFamily="34" charset="0"/>
                <a:ea typeface="Calibri" pitchFamily="34" charset="-122"/>
                <a:cs typeface="Calibri" pitchFamily="34" charset="-120"/>
              </a:rPr>
              <a:t>questions still failing, down from 3</a:t>
            </a:r>
            <a:endParaRPr lang="en-US" sz="1200" dirty="0"/>
          </a:p>
        </p:txBody>
      </p:sp>
      <p:sp>
        <p:nvSpPr>
          <p:cNvPr id="8" name="Text 6"/>
          <p:cNvSpPr txBox="1"/>
          <p:nvPr/>
        </p:nvSpPr>
        <p:spPr>
          <a:xfrm>
            <a:off x="6492240" y="2103120"/>
            <a:ext cx="2468880" cy="914400"/>
          </a:xfrm>
          <a:prstGeom prst="rect">
            <a:avLst/>
          </a:prstGeom>
          <a:noFill/>
          <a:ln/>
        </p:spPr>
        <p:txBody>
          <a:bodyPr wrap="square" lIns="0" tIns="0" rIns="0" bIns="0" rtlCol="0" anchor="ctr"/>
          <a:lstStyle/>
          <a:p>
            <a:pPr algn="l" indent="0" marL="0">
              <a:buNone/>
            </a:pPr>
            <a:r>
              <a:rPr lang="en-US" sz="5400" b="1" dirty="0">
                <a:solidFill>
                  <a:srgbClr val="2C5F2D"/>
                </a:solidFill>
                <a:latin typeface="Cambria" pitchFamily="34" charset="0"/>
                <a:ea typeface="Cambria" pitchFamily="34" charset="-122"/>
                <a:cs typeface="Cambria" pitchFamily="34" charset="-120"/>
              </a:rPr>
              <a:t>4.3 / 5</a:t>
            </a:r>
            <a:endParaRPr lang="en-US" sz="5400" dirty="0"/>
          </a:p>
        </p:txBody>
      </p:sp>
      <p:sp>
        <p:nvSpPr>
          <p:cNvPr id="9" name="Text 7"/>
          <p:cNvSpPr txBox="1"/>
          <p:nvPr/>
        </p:nvSpPr>
        <p:spPr>
          <a:xfrm>
            <a:off x="6492240" y="3017520"/>
            <a:ext cx="2468880" cy="685800"/>
          </a:xfrm>
          <a:prstGeom prst="rect">
            <a:avLst/>
          </a:prstGeom>
          <a:noFill/>
          <a:ln/>
        </p:spPr>
        <p:txBody>
          <a:bodyPr wrap="square" lIns="0" tIns="0" rIns="0" bIns="0" rtlCol="0" anchor="ctr"/>
          <a:lstStyle/>
          <a:p>
            <a:pPr algn="l" indent="0" marL="0">
              <a:buNone/>
            </a:pPr>
            <a:r>
              <a:rPr lang="en-US" sz="1200" dirty="0">
                <a:solidFill>
                  <a:srgbClr val="5A6B5A"/>
                </a:solidFill>
                <a:latin typeface="Calibri" pitchFamily="34" charset="0"/>
                <a:ea typeface="Calibri" pitchFamily="34" charset="-122"/>
                <a:cs typeface="Calibri" pitchFamily="34" charset="-120"/>
              </a:rPr>
              <a:t>independent quality score, steady across the change</a:t>
            </a:r>
            <a:endParaRPr lang="en-US" sz="1200" dirty="0"/>
          </a:p>
        </p:txBody>
      </p:sp>
      <p:sp>
        <p:nvSpPr>
          <p:cNvPr id="10" name="Text 8"/>
          <p:cNvSpPr txBox="1"/>
          <p:nvPr/>
        </p:nvSpPr>
        <p:spPr>
          <a:xfrm>
            <a:off x="9418320" y="2103120"/>
            <a:ext cx="2286000" cy="914400"/>
          </a:xfrm>
          <a:prstGeom prst="rect">
            <a:avLst/>
          </a:prstGeom>
          <a:noFill/>
          <a:ln/>
        </p:spPr>
        <p:txBody>
          <a:bodyPr wrap="square" lIns="0" tIns="0" rIns="0" bIns="0" rtlCol="0" anchor="ctr"/>
          <a:lstStyle/>
          <a:p>
            <a:pPr algn="l" indent="0" marL="0">
              <a:buNone/>
            </a:pPr>
            <a:r>
              <a:rPr lang="en-US" sz="5400" b="1" dirty="0">
                <a:solidFill>
                  <a:srgbClr val="97BC62"/>
                </a:solidFill>
                <a:latin typeface="Cambria" pitchFamily="34" charset="0"/>
                <a:ea typeface="Cambria" pitchFamily="34" charset="-122"/>
                <a:cs typeface="Cambria" pitchFamily="34" charset="-120"/>
              </a:rPr>
              <a:t>~6s</a:t>
            </a:r>
            <a:endParaRPr lang="en-US" sz="5400" dirty="0"/>
          </a:p>
        </p:txBody>
      </p:sp>
      <p:sp>
        <p:nvSpPr>
          <p:cNvPr id="11" name="Text 9"/>
          <p:cNvSpPr txBox="1"/>
          <p:nvPr/>
        </p:nvSpPr>
        <p:spPr>
          <a:xfrm>
            <a:off x="9418320" y="3017520"/>
            <a:ext cx="2286000" cy="685800"/>
          </a:xfrm>
          <a:prstGeom prst="rect">
            <a:avLst/>
          </a:prstGeom>
          <a:noFill/>
          <a:ln/>
        </p:spPr>
        <p:txBody>
          <a:bodyPr wrap="square" lIns="0" tIns="0" rIns="0" bIns="0" rtlCol="0" anchor="ctr"/>
          <a:lstStyle/>
          <a:p>
            <a:pPr algn="l" indent="0" marL="0">
              <a:buNone/>
            </a:pPr>
            <a:r>
              <a:rPr lang="en-US" sz="1200" dirty="0">
                <a:solidFill>
                  <a:srgbClr val="5A6B5A"/>
                </a:solidFill>
                <a:latin typeface="Calibri" pitchFamily="34" charset="0"/>
                <a:ea typeface="Calibri" pitchFamily="34" charset="-122"/>
                <a:cs typeface="Calibri" pitchFamily="34" charset="-120"/>
              </a:rPr>
              <a:t>typical time to a full answer</a:t>
            </a:r>
            <a:endParaRPr lang="en-US" sz="1200" dirty="0"/>
          </a:p>
        </p:txBody>
      </p:sp>
      <p:sp>
        <p:nvSpPr>
          <p:cNvPr id="12" name="Shape 10"/>
          <p:cNvSpPr/>
          <p:nvPr/>
        </p:nvSpPr>
        <p:spPr>
          <a:xfrm>
            <a:off x="640080" y="4160520"/>
            <a:ext cx="10881360" cy="1737360"/>
          </a:xfrm>
          <a:prstGeom prst="roundRect">
            <a:avLst>
              <a:gd name="adj" fmla="val 5263"/>
            </a:avLst>
          </a:prstGeom>
          <a:solidFill>
            <a:srgbClr val="F5F5F5"/>
          </a:solidFill>
          <a:ln/>
        </p:spPr>
      </p:sp>
      <p:sp>
        <p:nvSpPr>
          <p:cNvPr id="13" name="Text 11"/>
          <p:cNvSpPr txBox="1"/>
          <p:nvPr/>
        </p:nvSpPr>
        <p:spPr>
          <a:xfrm>
            <a:off x="960120" y="4389120"/>
            <a:ext cx="1024128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The tuning was honest, not cosmetic</a:t>
            </a:r>
            <a:endParaRPr lang="en-US" sz="1500" dirty="0"/>
          </a:p>
        </p:txBody>
      </p:sp>
      <p:sp>
        <p:nvSpPr>
          <p:cNvPr id="14" name="Text 12"/>
          <p:cNvSpPr txBox="1"/>
          <p:nvPr/>
        </p:nvSpPr>
        <p:spPr>
          <a:xfrm>
            <a:off x="960120" y="4754880"/>
            <a:ext cx="10241280" cy="1005840"/>
          </a:xfrm>
          <a:prstGeom prst="rect">
            <a:avLst/>
          </a:prstGeom>
          <a:noFill/>
          <a:ln/>
        </p:spPr>
        <p:txBody>
          <a:bodyPr wrap="square" lIns="0" tIns="0" rIns="0" bIns="0" rtlCol="0" anchor="ctr"/>
          <a:lstStyle/>
          <a:p>
            <a:pPr indent="0" marL="0">
              <a:lnSpc>
                <a:spcPct val="115000"/>
              </a:lnSpc>
              <a:buNone/>
            </a:pPr>
            <a:r>
              <a:rPr lang="en-US" sz="1250" dirty="0">
                <a:solidFill>
                  <a:srgbClr val="1C2A1C"/>
                </a:solidFill>
                <a:latin typeface="Calibri" pitchFamily="34" charset="0"/>
                <a:ea typeface="Calibri" pitchFamily="34" charset="-122"/>
                <a:cs typeface="Calibri" pitchFamily="34" charset="-120"/>
              </a:rPr>
              <a:t>The benchmark found a real fault: the brief's own wording — “Part SC-417” — broke the lookup, because every test written by hand had typed the bare number. One question went from failing completely to passing. Another slipped back. Scores move between runs, so the gain is real but smaller than a single pair of numbers suggests.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1C2A1C"/>
                </a:solidFill>
                <a:latin typeface="Cambria" pitchFamily="34" charset="0"/>
                <a:ea typeface="Cambria" pitchFamily="34" charset="-122"/>
                <a:cs typeface="Cambria" pitchFamily="34" charset="-120"/>
              </a:rPr>
              <a:t>Why it can be trusted</a:t>
            </a:r>
            <a:endParaRPr lang="en-US" sz="3800" dirty="0"/>
          </a:p>
        </p:txBody>
      </p:sp>
      <p:sp>
        <p:nvSpPr>
          <p:cNvPr id="3" name="Shape 1"/>
          <p:cNvSpPr/>
          <p:nvPr/>
        </p:nvSpPr>
        <p:spPr>
          <a:xfrm>
            <a:off x="640080" y="1508760"/>
            <a:ext cx="7040880" cy="1024128"/>
          </a:xfrm>
          <a:prstGeom prst="roundRect">
            <a:avLst>
              <a:gd name="adj" fmla="val 7143"/>
            </a:avLst>
          </a:prstGeom>
          <a:solidFill>
            <a:srgbClr val="F5F5F5"/>
          </a:solidFill>
          <a:ln/>
        </p:spPr>
      </p:sp>
      <p:sp>
        <p:nvSpPr>
          <p:cNvPr id="4" name="Text 2"/>
          <p:cNvSpPr txBox="1"/>
          <p:nvPr/>
        </p:nvSpPr>
        <p:spPr>
          <a:xfrm>
            <a:off x="914400" y="1636776"/>
            <a:ext cx="649224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Cannot change anything</a:t>
            </a:r>
            <a:endParaRPr lang="en-US" sz="1500" dirty="0"/>
          </a:p>
        </p:txBody>
      </p:sp>
      <p:sp>
        <p:nvSpPr>
          <p:cNvPr id="5" name="Text 3"/>
          <p:cNvSpPr txBox="1"/>
          <p:nvPr/>
        </p:nvSpPr>
        <p:spPr>
          <a:xfrm>
            <a:off x="914400" y="1965960"/>
            <a:ext cx="6492240" cy="457200"/>
          </a:xfrm>
          <a:prstGeom prst="rect">
            <a:avLst/>
          </a:prstGeom>
          <a:noFill/>
          <a:ln/>
        </p:spPr>
        <p:txBody>
          <a:bodyPr wrap="square" lIns="0" tIns="0" rIns="0" bIns="0" rtlCol="0" anchor="ctr"/>
          <a:lstStyle/>
          <a:p>
            <a:pPr indent="0" marL="0">
              <a:buNone/>
            </a:pPr>
            <a:r>
              <a:rPr lang="en-US" sz="1150" dirty="0">
                <a:solidFill>
                  <a:srgbClr val="5A6B5A"/>
                </a:solidFill>
                <a:latin typeface="Calibri" pitchFamily="34" charset="0"/>
                <a:ea typeface="Calibri" pitchFamily="34" charset="-122"/>
                <a:cs typeface="Calibri" pitchFamily="34" charset="-120"/>
              </a:rPr>
              <a:t>The database refuses every write from the assistant. Not a rule it follows — a permission it does not have.</a:t>
            </a:r>
            <a:endParaRPr lang="en-US" sz="1150" dirty="0"/>
          </a:p>
        </p:txBody>
      </p:sp>
      <p:sp>
        <p:nvSpPr>
          <p:cNvPr id="6" name="Shape 4"/>
          <p:cNvSpPr/>
          <p:nvPr/>
        </p:nvSpPr>
        <p:spPr>
          <a:xfrm>
            <a:off x="640080" y="2679192"/>
            <a:ext cx="7040880" cy="1024128"/>
          </a:xfrm>
          <a:prstGeom prst="roundRect">
            <a:avLst>
              <a:gd name="adj" fmla="val 7143"/>
            </a:avLst>
          </a:prstGeom>
          <a:solidFill>
            <a:srgbClr val="F5F5F5"/>
          </a:solidFill>
          <a:ln/>
        </p:spPr>
      </p:sp>
      <p:sp>
        <p:nvSpPr>
          <p:cNvPr id="7" name="Text 5"/>
          <p:cNvSpPr txBox="1"/>
          <p:nvPr/>
        </p:nvSpPr>
        <p:spPr>
          <a:xfrm>
            <a:off x="914400" y="2807208"/>
            <a:ext cx="649224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Cannot cite what it was not shown</a:t>
            </a:r>
            <a:endParaRPr lang="en-US" sz="1500" dirty="0"/>
          </a:p>
        </p:txBody>
      </p:sp>
      <p:sp>
        <p:nvSpPr>
          <p:cNvPr id="8" name="Text 6"/>
          <p:cNvSpPr txBox="1"/>
          <p:nvPr/>
        </p:nvSpPr>
        <p:spPr>
          <a:xfrm>
            <a:off x="914400" y="3136392"/>
            <a:ext cx="6492240" cy="457200"/>
          </a:xfrm>
          <a:prstGeom prst="rect">
            <a:avLst/>
          </a:prstGeom>
          <a:noFill/>
          <a:ln/>
        </p:spPr>
        <p:txBody>
          <a:bodyPr wrap="square" lIns="0" tIns="0" rIns="0" bIns="0" rtlCol="0" anchor="ctr"/>
          <a:lstStyle/>
          <a:p>
            <a:pPr indent="0" marL="0">
              <a:buNone/>
            </a:pPr>
            <a:r>
              <a:rPr lang="en-US" sz="1150" dirty="0">
                <a:solidFill>
                  <a:srgbClr val="5A6B5A"/>
                </a:solidFill>
                <a:latin typeface="Calibri" pitchFamily="34" charset="0"/>
                <a:ea typeface="Calibri" pitchFamily="34" charset="-122"/>
                <a:cs typeface="Calibri" pitchFamily="34" charset="-120"/>
              </a:rPr>
              <a:t>Each reference is checked against the records actually retrieved. A wrong one sends the answer back to be rewritten.</a:t>
            </a:r>
            <a:endParaRPr lang="en-US" sz="1150" dirty="0"/>
          </a:p>
        </p:txBody>
      </p:sp>
      <p:sp>
        <p:nvSpPr>
          <p:cNvPr id="9" name="Shape 7"/>
          <p:cNvSpPr/>
          <p:nvPr/>
        </p:nvSpPr>
        <p:spPr>
          <a:xfrm>
            <a:off x="640080" y="3849624"/>
            <a:ext cx="7040880" cy="1024128"/>
          </a:xfrm>
          <a:prstGeom prst="roundRect">
            <a:avLst>
              <a:gd name="adj" fmla="val 7143"/>
            </a:avLst>
          </a:prstGeom>
          <a:solidFill>
            <a:srgbClr val="F5F5F5"/>
          </a:solidFill>
          <a:ln/>
        </p:spPr>
      </p:sp>
      <p:sp>
        <p:nvSpPr>
          <p:cNvPr id="10" name="Text 8"/>
          <p:cNvSpPr txBox="1"/>
          <p:nvPr/>
        </p:nvSpPr>
        <p:spPr>
          <a:xfrm>
            <a:off x="914400" y="3977640"/>
            <a:ext cx="649224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Reports attempts to mislead it</a:t>
            </a:r>
            <a:endParaRPr lang="en-US" sz="1500" dirty="0"/>
          </a:p>
        </p:txBody>
      </p:sp>
      <p:sp>
        <p:nvSpPr>
          <p:cNvPr id="11" name="Text 9"/>
          <p:cNvSpPr txBox="1"/>
          <p:nvPr/>
        </p:nvSpPr>
        <p:spPr>
          <a:xfrm>
            <a:off x="914400" y="4306824"/>
            <a:ext cx="6492240" cy="457200"/>
          </a:xfrm>
          <a:prstGeom prst="rect">
            <a:avLst/>
          </a:prstGeom>
          <a:noFill/>
          <a:ln/>
        </p:spPr>
        <p:txBody>
          <a:bodyPr wrap="square" lIns="0" tIns="0" rIns="0" bIns="0" rtlCol="0" anchor="ctr"/>
          <a:lstStyle/>
          <a:p>
            <a:pPr indent="0" marL="0">
              <a:buNone/>
            </a:pPr>
            <a:r>
              <a:rPr lang="en-US" sz="1150" dirty="0">
                <a:solidFill>
                  <a:srgbClr val="5A6B5A"/>
                </a:solidFill>
                <a:latin typeface="Calibri" pitchFamily="34" charset="0"/>
                <a:ea typeface="Calibri" pitchFamily="34" charset="-122"/>
                <a:cs typeface="Calibri" pitchFamily="34" charset="-120"/>
              </a:rPr>
              <a:t>A planted note ordering it to hide a risk was read, refused, and escalated — not silently deleted.</a:t>
            </a:r>
            <a:endParaRPr lang="en-US" sz="1150" dirty="0"/>
          </a:p>
        </p:txBody>
      </p:sp>
      <p:sp>
        <p:nvSpPr>
          <p:cNvPr id="12" name="Shape 10"/>
          <p:cNvSpPr/>
          <p:nvPr/>
        </p:nvSpPr>
        <p:spPr>
          <a:xfrm>
            <a:off x="640080" y="5020056"/>
            <a:ext cx="7040880" cy="1024128"/>
          </a:xfrm>
          <a:prstGeom prst="roundRect">
            <a:avLst>
              <a:gd name="adj" fmla="val 7143"/>
            </a:avLst>
          </a:prstGeom>
          <a:solidFill>
            <a:srgbClr val="F5F5F5"/>
          </a:solidFill>
          <a:ln/>
        </p:spPr>
      </p:sp>
      <p:sp>
        <p:nvSpPr>
          <p:cNvPr id="13" name="Text 11"/>
          <p:cNvSpPr txBox="1"/>
          <p:nvPr/>
        </p:nvSpPr>
        <p:spPr>
          <a:xfrm>
            <a:off x="914400" y="5148072"/>
            <a:ext cx="6492240" cy="3200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Every step is recorded</a:t>
            </a:r>
            <a:endParaRPr lang="en-US" sz="1500" dirty="0"/>
          </a:p>
        </p:txBody>
      </p:sp>
      <p:sp>
        <p:nvSpPr>
          <p:cNvPr id="14" name="Text 12"/>
          <p:cNvSpPr txBox="1"/>
          <p:nvPr/>
        </p:nvSpPr>
        <p:spPr>
          <a:xfrm>
            <a:off x="914400" y="5477256"/>
            <a:ext cx="6492240" cy="457200"/>
          </a:xfrm>
          <a:prstGeom prst="rect">
            <a:avLst/>
          </a:prstGeom>
          <a:noFill/>
          <a:ln/>
        </p:spPr>
        <p:txBody>
          <a:bodyPr wrap="square" lIns="0" tIns="0" rIns="0" bIns="0" rtlCol="0" anchor="ctr"/>
          <a:lstStyle/>
          <a:p>
            <a:pPr indent="0" marL="0">
              <a:buNone/>
            </a:pPr>
            <a:r>
              <a:rPr lang="en-US" sz="1150" dirty="0">
                <a:solidFill>
                  <a:srgbClr val="5A6B5A"/>
                </a:solidFill>
                <a:latin typeface="Calibri" pitchFamily="34" charset="0"/>
                <a:ea typeface="Calibri" pitchFamily="34" charset="-122"/>
                <a:cs typeface="Calibri" pitchFamily="34" charset="-120"/>
              </a:rPr>
              <a:t>Each question, lookup and answer is stored and can be replayed months later.</a:t>
            </a:r>
            <a:endParaRPr lang="en-US" sz="1150" dirty="0"/>
          </a:p>
        </p:txBody>
      </p:sp>
      <p:sp>
        <p:nvSpPr>
          <p:cNvPr id="15" name="Shape 13"/>
          <p:cNvSpPr/>
          <p:nvPr/>
        </p:nvSpPr>
        <p:spPr>
          <a:xfrm>
            <a:off x="8138160" y="1508760"/>
            <a:ext cx="3383280" cy="4343400"/>
          </a:xfrm>
          <a:prstGeom prst="roundRect">
            <a:avLst>
              <a:gd name="adj" fmla="val 2703"/>
            </a:avLst>
          </a:prstGeom>
          <a:solidFill>
            <a:srgbClr val="2C5F2D"/>
          </a:solidFill>
          <a:ln/>
        </p:spPr>
      </p:sp>
      <p:sp>
        <p:nvSpPr>
          <p:cNvPr id="16" name="Text 14"/>
          <p:cNvSpPr txBox="1"/>
          <p:nvPr/>
        </p:nvSpPr>
        <p:spPr>
          <a:xfrm>
            <a:off x="8412480" y="1783080"/>
            <a:ext cx="2834640" cy="6400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Every answer carries a status</a:t>
            </a:r>
            <a:endParaRPr lang="en-US" sz="1400" dirty="0"/>
          </a:p>
        </p:txBody>
      </p:sp>
      <p:sp>
        <p:nvSpPr>
          <p:cNvPr id="17" name="Shape 15"/>
          <p:cNvSpPr/>
          <p:nvPr/>
        </p:nvSpPr>
        <p:spPr>
          <a:xfrm>
            <a:off x="8412480" y="2606040"/>
            <a:ext cx="2834640" cy="841248"/>
          </a:xfrm>
          <a:prstGeom prst="roundRect">
            <a:avLst>
              <a:gd name="adj" fmla="val 6522"/>
            </a:avLst>
          </a:prstGeom>
          <a:solidFill>
            <a:srgbClr val="1A7F37"/>
          </a:solidFill>
          <a:ln/>
        </p:spPr>
      </p:sp>
      <p:sp>
        <p:nvSpPr>
          <p:cNvPr id="18" name="Text 16"/>
          <p:cNvSpPr txBox="1"/>
          <p:nvPr/>
        </p:nvSpPr>
        <p:spPr>
          <a:xfrm>
            <a:off x="8595360" y="2697480"/>
            <a:ext cx="2468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GROUNDED</a:t>
            </a:r>
            <a:endParaRPr lang="en-US" sz="1300" dirty="0"/>
          </a:p>
        </p:txBody>
      </p:sp>
      <p:sp>
        <p:nvSpPr>
          <p:cNvPr id="19" name="Text 17"/>
          <p:cNvSpPr txBox="1"/>
          <p:nvPr/>
        </p:nvSpPr>
        <p:spPr>
          <a:xfrm>
            <a:off x="8595360" y="3017520"/>
            <a:ext cx="2468880" cy="292608"/>
          </a:xfrm>
          <a:prstGeom prst="rect">
            <a:avLst/>
          </a:prstGeom>
          <a:noFill/>
          <a:ln/>
        </p:spPr>
        <p:txBody>
          <a:bodyPr wrap="square" lIns="0" tIns="0" rIns="0" bIns="0" rtlCol="0" anchor="ctr"/>
          <a:lstStyle/>
          <a:p>
            <a:pPr indent="0" marL="0">
              <a:buNone/>
            </a:pPr>
            <a:r>
              <a:rPr lang="en-US" sz="1050" dirty="0">
                <a:solidFill>
                  <a:srgbClr val="F0F0F0"/>
                </a:solidFill>
                <a:latin typeface="Calibri" pitchFamily="34" charset="0"/>
                <a:ea typeface="Calibri" pitchFamily="34" charset="-122"/>
                <a:cs typeface="Calibri" pitchFamily="34" charset="-120"/>
              </a:rPr>
              <a:t>evidence checks out</a:t>
            </a:r>
            <a:endParaRPr lang="en-US" sz="1050" dirty="0"/>
          </a:p>
        </p:txBody>
      </p:sp>
      <p:sp>
        <p:nvSpPr>
          <p:cNvPr id="20" name="Shape 18"/>
          <p:cNvSpPr/>
          <p:nvPr/>
        </p:nvSpPr>
        <p:spPr>
          <a:xfrm>
            <a:off x="8412480" y="3657600"/>
            <a:ext cx="2834640" cy="841248"/>
          </a:xfrm>
          <a:prstGeom prst="roundRect">
            <a:avLst>
              <a:gd name="adj" fmla="val 6522"/>
            </a:avLst>
          </a:prstGeom>
          <a:solidFill>
            <a:srgbClr val="9A6700"/>
          </a:solidFill>
          <a:ln/>
        </p:spPr>
      </p:sp>
      <p:sp>
        <p:nvSpPr>
          <p:cNvPr id="21" name="Text 19"/>
          <p:cNvSpPr txBox="1"/>
          <p:nvPr/>
        </p:nvSpPr>
        <p:spPr>
          <a:xfrm>
            <a:off x="8595360" y="3749040"/>
            <a:ext cx="2468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NEEDS REVIEW</a:t>
            </a:r>
            <a:endParaRPr lang="en-US" sz="1300" dirty="0"/>
          </a:p>
        </p:txBody>
      </p:sp>
      <p:sp>
        <p:nvSpPr>
          <p:cNvPr id="22" name="Text 20"/>
          <p:cNvSpPr txBox="1"/>
          <p:nvPr/>
        </p:nvSpPr>
        <p:spPr>
          <a:xfrm>
            <a:off x="8595360" y="4069080"/>
            <a:ext cx="2468880" cy="292608"/>
          </a:xfrm>
          <a:prstGeom prst="rect">
            <a:avLst/>
          </a:prstGeom>
          <a:noFill/>
          <a:ln/>
        </p:spPr>
        <p:txBody>
          <a:bodyPr wrap="square" lIns="0" tIns="0" rIns="0" bIns="0" rtlCol="0" anchor="ctr"/>
          <a:lstStyle/>
          <a:p>
            <a:pPr indent="0" marL="0">
              <a:buNone/>
            </a:pPr>
            <a:r>
              <a:rPr lang="en-US" sz="1050" dirty="0">
                <a:solidFill>
                  <a:srgbClr val="F0F0F0"/>
                </a:solidFill>
                <a:latin typeface="Calibri" pitchFamily="34" charset="0"/>
                <a:ea typeface="Calibri" pitchFamily="34" charset="-122"/>
                <a:cs typeface="Calibri" pitchFamily="34" charset="-120"/>
              </a:rPr>
              <a:t>a person should look</a:t>
            </a:r>
            <a:endParaRPr lang="en-US" sz="1050" dirty="0"/>
          </a:p>
        </p:txBody>
      </p:sp>
      <p:sp>
        <p:nvSpPr>
          <p:cNvPr id="23" name="Shape 21"/>
          <p:cNvSpPr/>
          <p:nvPr/>
        </p:nvSpPr>
        <p:spPr>
          <a:xfrm>
            <a:off x="8412480" y="4709160"/>
            <a:ext cx="2834640" cy="841248"/>
          </a:xfrm>
          <a:prstGeom prst="roundRect">
            <a:avLst>
              <a:gd name="adj" fmla="val 6522"/>
            </a:avLst>
          </a:prstGeom>
          <a:solidFill>
            <a:srgbClr val="B42318"/>
          </a:solidFill>
          <a:ln/>
        </p:spPr>
      </p:sp>
      <p:sp>
        <p:nvSpPr>
          <p:cNvPr id="24" name="Text 22"/>
          <p:cNvSpPr txBox="1"/>
          <p:nvPr/>
        </p:nvSpPr>
        <p:spPr>
          <a:xfrm>
            <a:off x="8595360" y="4800600"/>
            <a:ext cx="2468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BLOCKED</a:t>
            </a:r>
            <a:endParaRPr lang="en-US" sz="1300" dirty="0"/>
          </a:p>
        </p:txBody>
      </p:sp>
      <p:sp>
        <p:nvSpPr>
          <p:cNvPr id="25" name="Text 23"/>
          <p:cNvSpPr txBox="1"/>
          <p:nvPr/>
        </p:nvSpPr>
        <p:spPr>
          <a:xfrm>
            <a:off x="8595360" y="5120640"/>
            <a:ext cx="2468880" cy="292608"/>
          </a:xfrm>
          <a:prstGeom prst="rect">
            <a:avLst/>
          </a:prstGeom>
          <a:noFill/>
          <a:ln/>
        </p:spPr>
        <p:txBody>
          <a:bodyPr wrap="square" lIns="0" tIns="0" rIns="0" bIns="0" rtlCol="0" anchor="ctr"/>
          <a:lstStyle/>
          <a:p>
            <a:pPr indent="0" marL="0">
              <a:buNone/>
            </a:pPr>
            <a:r>
              <a:rPr lang="en-US" sz="1050" dirty="0">
                <a:solidFill>
                  <a:srgbClr val="F0F0F0"/>
                </a:solidFill>
                <a:latin typeface="Calibri" pitchFamily="34" charset="0"/>
                <a:ea typeface="Calibri" pitchFamily="34" charset="-122"/>
                <a:cs typeface="Calibri" pitchFamily="34" charset="-120"/>
              </a:rPr>
              <a:t>references failed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1C2A1C"/>
                </a:solidFill>
                <a:latin typeface="Cambria" pitchFamily="34" charset="0"/>
                <a:ea typeface="Cambria" pitchFamily="34" charset="-122"/>
                <a:cs typeface="Cambria" pitchFamily="34" charset="-120"/>
              </a:rPr>
              <a:t>What it cannot do yet</a:t>
            </a:r>
            <a:endParaRPr lang="en-US" sz="3800" dirty="0"/>
          </a:p>
        </p:txBody>
      </p:sp>
      <p:sp>
        <p:nvSpPr>
          <p:cNvPr id="3" name="Text 1"/>
          <p:cNvSpPr txBox="1"/>
          <p:nvPr/>
        </p:nvSpPr>
        <p:spPr>
          <a:xfrm>
            <a:off x="640080" y="1371600"/>
            <a:ext cx="10881360" cy="365760"/>
          </a:xfrm>
          <a:prstGeom prst="rect">
            <a:avLst/>
          </a:prstGeom>
          <a:noFill/>
          <a:ln/>
        </p:spPr>
        <p:txBody>
          <a:bodyPr wrap="square" lIns="0" tIns="0" rIns="0" bIns="0" rtlCol="0" anchor="ctr"/>
          <a:lstStyle/>
          <a:p>
            <a:pPr indent="0" marL="0">
              <a:buNone/>
            </a:pPr>
            <a:r>
              <a:rPr lang="en-US" sz="1400" dirty="0">
                <a:solidFill>
                  <a:srgbClr val="5A6B5A"/>
                </a:solidFill>
                <a:latin typeface="Calibri" pitchFamily="34" charset="0"/>
                <a:ea typeface="Calibri" pitchFamily="34" charset="-122"/>
                <a:cs typeface="Calibri" pitchFamily="34" charset="-120"/>
              </a:rPr>
              <a:t>Stated plainly, because a tool that hides its limits gets trusted in the wrong places.</a:t>
            </a:r>
            <a:endParaRPr lang="en-US" sz="1400" dirty="0"/>
          </a:p>
        </p:txBody>
      </p:sp>
      <p:sp>
        <p:nvSpPr>
          <p:cNvPr id="4" name="Shape 2"/>
          <p:cNvSpPr/>
          <p:nvPr/>
        </p:nvSpPr>
        <p:spPr>
          <a:xfrm>
            <a:off x="640080" y="2057400"/>
            <a:ext cx="5349240" cy="1691640"/>
          </a:xfrm>
          <a:prstGeom prst="roundRect">
            <a:avLst>
              <a:gd name="adj" fmla="val 4324"/>
            </a:avLst>
          </a:prstGeom>
          <a:solidFill>
            <a:srgbClr val="F5F5F5"/>
          </a:solidFill>
          <a:ln/>
        </p:spPr>
      </p:sp>
      <p:sp>
        <p:nvSpPr>
          <p:cNvPr id="5" name="Text 3"/>
          <p:cNvSpPr txBox="1"/>
          <p:nvPr/>
        </p:nvSpPr>
        <p:spPr>
          <a:xfrm>
            <a:off x="914400" y="2240280"/>
            <a:ext cx="480060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Only one scenario is fully verified</a:t>
            </a:r>
            <a:endParaRPr lang="en-US" sz="1500" dirty="0"/>
          </a:p>
        </p:txBody>
      </p:sp>
      <p:sp>
        <p:nvSpPr>
          <p:cNvPr id="6" name="Text 4"/>
          <p:cNvSpPr txBox="1"/>
          <p:nvPr/>
        </p:nvSpPr>
        <p:spPr>
          <a:xfrm>
            <a:off x="914400" y="2807208"/>
            <a:ext cx="4800600" cy="822960"/>
          </a:xfrm>
          <a:prstGeom prst="rect">
            <a:avLst/>
          </a:prstGeom>
          <a:noFill/>
          <a:ln/>
        </p:spPr>
        <p:txBody>
          <a:bodyPr wrap="square" lIns="0" tIns="0" rIns="0" bIns="0" rtlCol="0" anchor="ctr"/>
          <a:lstStyle/>
          <a:p>
            <a:pPr indent="0" marL="0">
              <a:lnSpc>
                <a:spcPct val="115000"/>
              </a:lnSpc>
              <a:buNone/>
            </a:pPr>
            <a:r>
              <a:rPr lang="en-US" sz="1200" dirty="0">
                <a:solidFill>
                  <a:srgbClr val="5A6B5A"/>
                </a:solidFill>
                <a:latin typeface="Calibri" pitchFamily="34" charset="0"/>
                <a:ea typeface="Calibri" pitchFamily="34" charset="-122"/>
                <a:cs typeface="Calibri" pitchFamily="34" charset="-120"/>
              </a:rPr>
              <a:t>The dataset contains one hand-built case. Everything else is checked on facts, not on the quality of the reasoning.</a:t>
            </a:r>
            <a:endParaRPr lang="en-US" sz="1200" dirty="0"/>
          </a:p>
        </p:txBody>
      </p:sp>
      <p:sp>
        <p:nvSpPr>
          <p:cNvPr id="7" name="Shape 5"/>
          <p:cNvSpPr/>
          <p:nvPr/>
        </p:nvSpPr>
        <p:spPr>
          <a:xfrm>
            <a:off x="6263640" y="2057400"/>
            <a:ext cx="5349240" cy="1691640"/>
          </a:xfrm>
          <a:prstGeom prst="roundRect">
            <a:avLst>
              <a:gd name="adj" fmla="val 4324"/>
            </a:avLst>
          </a:prstGeom>
          <a:solidFill>
            <a:srgbClr val="F5F5F5"/>
          </a:solidFill>
          <a:ln/>
        </p:spPr>
      </p:sp>
      <p:sp>
        <p:nvSpPr>
          <p:cNvPr id="8" name="Text 6"/>
          <p:cNvSpPr txBox="1"/>
          <p:nvPr/>
        </p:nvSpPr>
        <p:spPr>
          <a:xfrm>
            <a:off x="6537960" y="2240280"/>
            <a:ext cx="480060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138 duplicate suppliers remain</a:t>
            </a:r>
            <a:endParaRPr lang="en-US" sz="1500" dirty="0"/>
          </a:p>
        </p:txBody>
      </p:sp>
      <p:sp>
        <p:nvSpPr>
          <p:cNvPr id="9" name="Text 7"/>
          <p:cNvSpPr txBox="1"/>
          <p:nvPr/>
        </p:nvSpPr>
        <p:spPr>
          <a:xfrm>
            <a:off x="6537960" y="2807208"/>
            <a:ext cx="4800600" cy="822960"/>
          </a:xfrm>
          <a:prstGeom prst="rect">
            <a:avLst/>
          </a:prstGeom>
          <a:noFill/>
          <a:ln/>
        </p:spPr>
        <p:txBody>
          <a:bodyPr wrap="square" lIns="0" tIns="0" rIns="0" bIns="0" rtlCol="0" anchor="ctr"/>
          <a:lstStyle/>
          <a:p>
            <a:pPr indent="0" marL="0">
              <a:lnSpc>
                <a:spcPct val="115000"/>
              </a:lnSpc>
              <a:buNone/>
            </a:pPr>
            <a:r>
              <a:rPr lang="en-US" sz="1200" dirty="0">
                <a:solidFill>
                  <a:srgbClr val="5A6B5A"/>
                </a:solidFill>
                <a:latin typeface="Calibri" pitchFamily="34" charset="0"/>
                <a:ea typeface="Calibri" pitchFamily="34" charset="-122"/>
                <a:cs typeface="Calibri" pitchFamily="34" charset="-120"/>
              </a:rPr>
              <a:t>Nothing in the data distinguishes which supplier they duplicate, so supplier counts run slightly high. A data steward resolves these, not an algorithm.</a:t>
            </a:r>
            <a:endParaRPr lang="en-US" sz="1200" dirty="0"/>
          </a:p>
        </p:txBody>
      </p:sp>
      <p:sp>
        <p:nvSpPr>
          <p:cNvPr id="10" name="Shape 8"/>
          <p:cNvSpPr/>
          <p:nvPr/>
        </p:nvSpPr>
        <p:spPr>
          <a:xfrm>
            <a:off x="640080" y="4023360"/>
            <a:ext cx="5349240" cy="1691640"/>
          </a:xfrm>
          <a:prstGeom prst="roundRect">
            <a:avLst>
              <a:gd name="adj" fmla="val 4324"/>
            </a:avLst>
          </a:prstGeom>
          <a:solidFill>
            <a:srgbClr val="F5F5F5"/>
          </a:solidFill>
          <a:ln/>
        </p:spPr>
      </p:sp>
      <p:sp>
        <p:nvSpPr>
          <p:cNvPr id="11" name="Text 9"/>
          <p:cNvSpPr txBox="1"/>
          <p:nvPr/>
        </p:nvSpPr>
        <p:spPr>
          <a:xfrm>
            <a:off x="914400" y="4206240"/>
            <a:ext cx="480060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Quality is marked by a related model</a:t>
            </a:r>
            <a:endParaRPr lang="en-US" sz="1500" dirty="0"/>
          </a:p>
        </p:txBody>
      </p:sp>
      <p:sp>
        <p:nvSpPr>
          <p:cNvPr id="12" name="Text 10"/>
          <p:cNvSpPr txBox="1"/>
          <p:nvPr/>
        </p:nvSpPr>
        <p:spPr>
          <a:xfrm>
            <a:off x="914400" y="4773168"/>
            <a:ext cx="4800600" cy="822960"/>
          </a:xfrm>
          <a:prstGeom prst="rect">
            <a:avLst/>
          </a:prstGeom>
          <a:noFill/>
          <a:ln/>
        </p:spPr>
        <p:txBody>
          <a:bodyPr wrap="square" lIns="0" tIns="0" rIns="0" bIns="0" rtlCol="0" anchor="ctr"/>
          <a:lstStyle/>
          <a:p>
            <a:pPr indent="0" marL="0">
              <a:lnSpc>
                <a:spcPct val="115000"/>
              </a:lnSpc>
              <a:buNone/>
            </a:pPr>
            <a:r>
              <a:rPr lang="en-US" sz="1200" dirty="0">
                <a:solidFill>
                  <a:srgbClr val="5A6B5A"/>
                </a:solidFill>
                <a:latin typeface="Calibri" pitchFamily="34" charset="0"/>
                <a:ea typeface="Calibri" pitchFamily="34" charset="-122"/>
                <a:cs typeface="Calibri" pitchFamily="34" charset="-120"/>
              </a:rPr>
              <a:t>A genuinely independent reviewer would be stronger evidence than the one used here.</a:t>
            </a:r>
            <a:endParaRPr lang="en-US" sz="1200" dirty="0"/>
          </a:p>
        </p:txBody>
      </p:sp>
      <p:sp>
        <p:nvSpPr>
          <p:cNvPr id="13" name="Shape 11"/>
          <p:cNvSpPr/>
          <p:nvPr/>
        </p:nvSpPr>
        <p:spPr>
          <a:xfrm>
            <a:off x="6263640" y="4023360"/>
            <a:ext cx="5349240" cy="1691640"/>
          </a:xfrm>
          <a:prstGeom prst="roundRect">
            <a:avLst>
              <a:gd name="adj" fmla="val 4324"/>
            </a:avLst>
          </a:prstGeom>
          <a:solidFill>
            <a:srgbClr val="F5F5F5"/>
          </a:solidFill>
          <a:ln/>
        </p:spPr>
      </p:sp>
      <p:sp>
        <p:nvSpPr>
          <p:cNvPr id="14" name="Text 12"/>
          <p:cNvSpPr txBox="1"/>
          <p:nvPr/>
        </p:nvSpPr>
        <p:spPr>
          <a:xfrm>
            <a:off x="6537960" y="4206240"/>
            <a:ext cx="480060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Runs on a single local database</a:t>
            </a:r>
            <a:endParaRPr lang="en-US" sz="1500" dirty="0"/>
          </a:p>
        </p:txBody>
      </p:sp>
      <p:sp>
        <p:nvSpPr>
          <p:cNvPr id="15" name="Text 13"/>
          <p:cNvSpPr txBox="1"/>
          <p:nvPr/>
        </p:nvSpPr>
        <p:spPr>
          <a:xfrm>
            <a:off x="6537960" y="4773168"/>
            <a:ext cx="4800600" cy="822960"/>
          </a:xfrm>
          <a:prstGeom prst="rect">
            <a:avLst/>
          </a:prstGeom>
          <a:noFill/>
          <a:ln/>
        </p:spPr>
        <p:txBody>
          <a:bodyPr wrap="square" lIns="0" tIns="0" rIns="0" bIns="0" rtlCol="0" anchor="ctr"/>
          <a:lstStyle/>
          <a:p>
            <a:pPr indent="0" marL="0">
              <a:lnSpc>
                <a:spcPct val="115000"/>
              </a:lnSpc>
              <a:buNone/>
            </a:pPr>
            <a:r>
              <a:rPr lang="en-US" sz="1200" dirty="0">
                <a:solidFill>
                  <a:srgbClr val="5A6B5A"/>
                </a:solidFill>
                <a:latin typeface="Calibri" pitchFamily="34" charset="0"/>
                <a:ea typeface="Calibri" pitchFamily="34" charset="-122"/>
                <a:cs typeface="Calibri" pitchFamily="34" charset="-120"/>
              </a:rPr>
              <a:t>Fine for a demonstration. Production needs a managed cluster and a restricted account.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5F2D"/>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we would do next</a:t>
            </a:r>
            <a:endParaRPr lang="en-US" sz="3800" dirty="0"/>
          </a:p>
        </p:txBody>
      </p:sp>
      <p:sp>
        <p:nvSpPr>
          <p:cNvPr id="3" name="Shape 1"/>
          <p:cNvSpPr/>
          <p:nvPr/>
        </p:nvSpPr>
        <p:spPr>
          <a:xfrm>
            <a:off x="640080" y="1691640"/>
            <a:ext cx="566928" cy="566928"/>
          </a:xfrm>
          <a:prstGeom prst="ellipse">
            <a:avLst/>
          </a:prstGeom>
          <a:solidFill>
            <a:srgbClr val="97BC62"/>
          </a:solidFill>
          <a:ln/>
        </p:spPr>
      </p:sp>
      <p:sp>
        <p:nvSpPr>
          <p:cNvPr id="4" name="Text 2"/>
          <p:cNvSpPr txBox="1"/>
          <p:nvPr/>
        </p:nvSpPr>
        <p:spPr>
          <a:xfrm>
            <a:off x="640080" y="169164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1</a:t>
            </a:r>
            <a:endParaRPr lang="en-US" sz="1700" dirty="0"/>
          </a:p>
        </p:txBody>
      </p:sp>
      <p:sp>
        <p:nvSpPr>
          <p:cNvPr id="5" name="Text 3"/>
          <p:cNvSpPr txBox="1"/>
          <p:nvPr/>
        </p:nvSpPr>
        <p:spPr>
          <a:xfrm>
            <a:off x="1417320" y="1600200"/>
            <a:ext cx="996696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Put it in front of planners</a:t>
            </a:r>
            <a:endParaRPr lang="en-US" sz="1900" dirty="0"/>
          </a:p>
        </p:txBody>
      </p:sp>
      <p:sp>
        <p:nvSpPr>
          <p:cNvPr id="6" name="Text 4"/>
          <p:cNvSpPr txBox="1"/>
          <p:nvPr/>
        </p:nvSpPr>
        <p:spPr>
          <a:xfrm>
            <a:off x="1417320" y="2039112"/>
            <a:ext cx="9966960" cy="548640"/>
          </a:xfrm>
          <a:prstGeom prst="rect">
            <a:avLst/>
          </a:prstGeom>
          <a:noFill/>
          <a:ln/>
        </p:spPr>
        <p:txBody>
          <a:bodyPr wrap="square" lIns="0" tIns="0" rIns="0" bIns="0" rtlCol="0" anchor="ctr"/>
          <a:lstStyle/>
          <a:p>
            <a:pPr indent="0" marL="0">
              <a:buNone/>
            </a:pPr>
            <a:r>
              <a:rPr lang="en-US" sz="1300" dirty="0">
                <a:solidFill>
                  <a:srgbClr val="D6E5CE"/>
                </a:solidFill>
                <a:latin typeface="Calibri" pitchFamily="34" charset="0"/>
                <a:ea typeface="Calibri" pitchFamily="34" charset="-122"/>
                <a:cs typeface="Calibri" pitchFamily="34" charset="-120"/>
              </a:rPr>
              <a:t>A short pilot with real questions from one plant. The benchmark tells us it works; only planners can tell us it is useful.</a:t>
            </a:r>
            <a:endParaRPr lang="en-US" sz="1300" dirty="0"/>
          </a:p>
        </p:txBody>
      </p:sp>
      <p:sp>
        <p:nvSpPr>
          <p:cNvPr id="7" name="Shape 5"/>
          <p:cNvSpPr/>
          <p:nvPr/>
        </p:nvSpPr>
        <p:spPr>
          <a:xfrm>
            <a:off x="640080" y="3017520"/>
            <a:ext cx="566928" cy="566928"/>
          </a:xfrm>
          <a:prstGeom prst="ellipse">
            <a:avLst/>
          </a:prstGeom>
          <a:solidFill>
            <a:srgbClr val="97BC62"/>
          </a:solidFill>
          <a:ln/>
        </p:spPr>
      </p:sp>
      <p:sp>
        <p:nvSpPr>
          <p:cNvPr id="8" name="Text 6"/>
          <p:cNvSpPr txBox="1"/>
          <p:nvPr/>
        </p:nvSpPr>
        <p:spPr>
          <a:xfrm>
            <a:off x="640080" y="301752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2</a:t>
            </a:r>
            <a:endParaRPr lang="en-US" sz="1700" dirty="0"/>
          </a:p>
        </p:txBody>
      </p:sp>
      <p:sp>
        <p:nvSpPr>
          <p:cNvPr id="9" name="Text 7"/>
          <p:cNvSpPr txBox="1"/>
          <p:nvPr/>
        </p:nvSpPr>
        <p:spPr>
          <a:xfrm>
            <a:off x="1417320" y="2926080"/>
            <a:ext cx="996696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Connect it to live data</a:t>
            </a:r>
            <a:endParaRPr lang="en-US" sz="1900" dirty="0"/>
          </a:p>
        </p:txBody>
      </p:sp>
      <p:sp>
        <p:nvSpPr>
          <p:cNvPr id="10" name="Text 8"/>
          <p:cNvSpPr txBox="1"/>
          <p:nvPr/>
        </p:nvSpPr>
        <p:spPr>
          <a:xfrm>
            <a:off x="1417320" y="3364992"/>
            <a:ext cx="9966960" cy="548640"/>
          </a:xfrm>
          <a:prstGeom prst="rect">
            <a:avLst/>
          </a:prstGeom>
          <a:noFill/>
          <a:ln/>
        </p:spPr>
        <p:txBody>
          <a:bodyPr wrap="square" lIns="0" tIns="0" rIns="0" bIns="0" rtlCol="0" anchor="ctr"/>
          <a:lstStyle/>
          <a:p>
            <a:pPr indent="0" marL="0">
              <a:buNone/>
            </a:pPr>
            <a:r>
              <a:rPr lang="en-US" sz="1300" dirty="0">
                <a:solidFill>
                  <a:srgbClr val="D6E5CE"/>
                </a:solidFill>
                <a:latin typeface="Calibri" pitchFamily="34" charset="0"/>
                <a:ea typeface="Calibri" pitchFamily="34" charset="-122"/>
                <a:cs typeface="Calibri" pitchFamily="34" charset="-120"/>
              </a:rPr>
              <a:t>The pattern holds on real systems. The work is access and refresh, not new invention.</a:t>
            </a:r>
            <a:endParaRPr lang="en-US" sz="1300" dirty="0"/>
          </a:p>
        </p:txBody>
      </p:sp>
      <p:sp>
        <p:nvSpPr>
          <p:cNvPr id="11" name="Shape 9"/>
          <p:cNvSpPr/>
          <p:nvPr/>
        </p:nvSpPr>
        <p:spPr>
          <a:xfrm>
            <a:off x="640080" y="4343400"/>
            <a:ext cx="566928" cy="566928"/>
          </a:xfrm>
          <a:prstGeom prst="ellipse">
            <a:avLst/>
          </a:prstGeom>
          <a:solidFill>
            <a:srgbClr val="97BC62"/>
          </a:solidFill>
          <a:ln/>
        </p:spPr>
      </p:sp>
      <p:sp>
        <p:nvSpPr>
          <p:cNvPr id="12" name="Text 10"/>
          <p:cNvSpPr txBox="1"/>
          <p:nvPr/>
        </p:nvSpPr>
        <p:spPr>
          <a:xfrm>
            <a:off x="640080" y="4343400"/>
            <a:ext cx="566928" cy="566928"/>
          </a:xfrm>
          <a:prstGeom prst="rect">
            <a:avLst/>
          </a:prstGeom>
          <a:noFill/>
          <a:ln/>
        </p:spPr>
        <p:txBody>
          <a:bodyPr wrap="square" lIns="0" tIns="0" rIns="0" bIns="0" rtlCol="0" anchor="ctr"/>
          <a:lstStyle/>
          <a:p>
            <a:pPr algn="ctr" indent="0" marL="0">
              <a:buNone/>
            </a:pPr>
            <a:r>
              <a:rPr lang="en-US" sz="1700" b="1" dirty="0">
                <a:solidFill>
                  <a:srgbClr val="2C5F2D"/>
                </a:solidFill>
                <a:latin typeface="Cambria" pitchFamily="34" charset="0"/>
                <a:ea typeface="Cambria" pitchFamily="34" charset="-122"/>
                <a:cs typeface="Cambria" pitchFamily="34" charset="-120"/>
              </a:rPr>
              <a:t>3</a:t>
            </a:r>
            <a:endParaRPr lang="en-US" sz="1700" dirty="0"/>
          </a:p>
        </p:txBody>
      </p:sp>
      <p:sp>
        <p:nvSpPr>
          <p:cNvPr id="13" name="Text 11"/>
          <p:cNvSpPr txBox="1"/>
          <p:nvPr/>
        </p:nvSpPr>
        <p:spPr>
          <a:xfrm>
            <a:off x="1417320" y="4251960"/>
            <a:ext cx="996696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Let a steward fix the supplier records</a:t>
            </a:r>
            <a:endParaRPr lang="en-US" sz="1900" dirty="0"/>
          </a:p>
        </p:txBody>
      </p:sp>
      <p:sp>
        <p:nvSpPr>
          <p:cNvPr id="14" name="Text 12"/>
          <p:cNvSpPr txBox="1"/>
          <p:nvPr/>
        </p:nvSpPr>
        <p:spPr>
          <a:xfrm>
            <a:off x="1417320" y="4690872"/>
            <a:ext cx="9966960" cy="548640"/>
          </a:xfrm>
          <a:prstGeom prst="rect">
            <a:avLst/>
          </a:prstGeom>
          <a:noFill/>
          <a:ln/>
        </p:spPr>
        <p:txBody>
          <a:bodyPr wrap="square" lIns="0" tIns="0" rIns="0" bIns="0" rtlCol="0" anchor="ctr"/>
          <a:lstStyle/>
          <a:p>
            <a:pPr indent="0" marL="0">
              <a:buNone/>
            </a:pPr>
            <a:r>
              <a:rPr lang="en-US" sz="1300" dirty="0">
                <a:solidFill>
                  <a:srgbClr val="D6E5CE"/>
                </a:solidFill>
                <a:latin typeface="Calibri" pitchFamily="34" charset="0"/>
                <a:ea typeface="Calibri" pitchFamily="34" charset="-122"/>
                <a:cs typeface="Calibri" pitchFamily="34" charset="-120"/>
              </a:rPr>
              <a:t>The duplicates it cannot resolve are a data-ownership problem, and fixing them improves every count downstream.</a:t>
            </a:r>
            <a:endParaRPr lang="en-US" sz="1300" dirty="0"/>
          </a:p>
        </p:txBody>
      </p:sp>
      <p:sp>
        <p:nvSpPr>
          <p:cNvPr id="15" name="Shape 13"/>
          <p:cNvSpPr/>
          <p:nvPr/>
        </p:nvSpPr>
        <p:spPr>
          <a:xfrm>
            <a:off x="640080" y="5623560"/>
            <a:ext cx="10881360" cy="777240"/>
          </a:xfrm>
          <a:prstGeom prst="roundRect">
            <a:avLst>
              <a:gd name="adj" fmla="val 9412"/>
            </a:avLst>
          </a:prstGeom>
          <a:solidFill>
            <a:srgbClr val="97BC62"/>
          </a:solidFill>
          <a:ln/>
        </p:spPr>
      </p:sp>
      <p:sp>
        <p:nvSpPr>
          <p:cNvPr id="16" name="Text 14"/>
          <p:cNvSpPr txBox="1"/>
          <p:nvPr/>
        </p:nvSpPr>
        <p:spPr>
          <a:xfrm>
            <a:off x="960120" y="5779008"/>
            <a:ext cx="10241280" cy="457200"/>
          </a:xfrm>
          <a:prstGeom prst="rect">
            <a:avLst/>
          </a:prstGeom>
          <a:noFill/>
          <a:ln/>
        </p:spPr>
        <p:txBody>
          <a:bodyPr wrap="square" lIns="0" tIns="0" rIns="0" bIns="0" rtlCol="0" anchor="ctr"/>
          <a:lstStyle/>
          <a:p>
            <a:pPr indent="0" marL="0">
              <a:buNone/>
            </a:pPr>
            <a:r>
              <a:rPr lang="en-US" sz="1350" i="1" dirty="0">
                <a:solidFill>
                  <a:srgbClr val="2C5F2D"/>
                </a:solidFill>
                <a:latin typeface="Calibri" pitchFamily="34" charset="0"/>
                <a:ea typeface="Calibri" pitchFamily="34" charset="-122"/>
                <a:cs typeface="Calibri" pitchFamily="34" charset="-120"/>
              </a:rPr>
              <a:t>The question is not whether the graph can answer it. It answered. The question is whether planners trust an answer they did not assemble themselves.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2026-09-03T11:02:27Z</dcterms:created>
  <dcterms:modified xsi:type="dcterms:W3CDTF">2026-09-03T11:02:27Z</dcterms:modified>
</cp:coreProperties>
</file>